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71" r:id="rId10"/>
    <p:sldId id="264" r:id="rId11"/>
    <p:sldId id="267" r:id="rId12"/>
    <p:sldId id="269" r:id="rId13"/>
    <p:sldId id="272" r:id="rId14"/>
    <p:sldId id="268" r:id="rId15"/>
    <p:sldId id="270" r:id="rId16"/>
  </p:sldIdLst>
  <p:sldSz cx="9144000" cy="6858000" type="screen4x3"/>
  <p:notesSz cx="6858000" cy="9144000"/>
  <p:defaultTextStyle>
    <a:defPPr>
      <a:defRPr lang="es-E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2C53B"/>
    <a:srgbClr val="FF9933"/>
    <a:srgbClr val="6E5552"/>
    <a:srgbClr val="0C788E"/>
    <a:srgbClr val="660066"/>
    <a:srgbClr val="800080"/>
    <a:srgbClr val="422C16"/>
    <a:srgbClr val="321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DA3F72-E04E-494A-8D8A-70EEA34F0FF0}" v="48" dt="2026-06-24T06:54:19.209"/>
    <p1510:client id="{6D81AAE7-AA6B-438D-9185-94405EB72D28}" v="24" dt="2026-06-23T13:27:46.8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113A9D2-9D6B-4929-AA2D-F23B5EE8CBE7}" styleName="Style à thème 2 - Accentuation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25E5076-3810-47DD-B79F-674D7AD40C01}" styleName="Style foncé 1 - Accentuation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Style foncé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9C7853C-536D-4A76-A0AE-DD22124D55A5}" styleName="Style à thème 1 - Accentuation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06799F8-075E-4A3A-A7F6-7FBC6576F1A4}" styleName="Style à thème 2 - Accentuation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Style clair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Style clair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Style moyen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DA37D80-6434-44D0-A028-1B22A696006F}" styleName="Style léger 3 - Accentuation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269D01E-BC32-4049-B463-5C60D7B0CCD2}" styleName="Style à thème 2 - Accentuation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Style à thème 2 - Accentuation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Style à thème 2 - Accentuation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7AC3CCA-C797-4891-BE02-D94E43425B78}" styleName="Style moyen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tr-TR"/>
              <a:t>Asıl alt başlık stilini düzenlemek için tıklatın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1EDD1CA-6479-B490-196F-C70012906DC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102454F-0527-A830-DB02-971CF2C1C04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C4AC7F0-E8B3-5A0E-6AD8-E8FB61AABF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55376D-A610-4B45-B3ED-EC91DEAC3A5D}" type="slidenum">
              <a:rPr lang="es-ES" altLang="fr-FR"/>
              <a:pPr/>
              <a:t>‹N°›</a:t>
            </a:fld>
            <a:endParaRPr lang="es-ES" altLang="fr-FR"/>
          </a:p>
        </p:txBody>
      </p:sp>
    </p:spTree>
    <p:extLst>
      <p:ext uri="{BB962C8B-B14F-4D97-AF65-F5344CB8AC3E}">
        <p14:creationId xmlns:p14="http://schemas.microsoft.com/office/powerpoint/2010/main" val="3850808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3397204-F5ED-669E-77A0-4B2964B2D8A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FC5EF1E-BDEE-8B03-0ED1-253432304C2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9B639C5-4E1E-C4A7-79D1-2840A5E65E8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89B3F29-ED7C-49CA-94DF-30EA698F2BA7}" type="slidenum">
              <a:rPr lang="es-ES" altLang="fr-FR"/>
              <a:pPr/>
              <a:t>‹N°›</a:t>
            </a:fld>
            <a:endParaRPr lang="es-ES" altLang="fr-FR"/>
          </a:p>
        </p:txBody>
      </p:sp>
    </p:spTree>
    <p:extLst>
      <p:ext uri="{BB962C8B-B14F-4D97-AF65-F5344CB8AC3E}">
        <p14:creationId xmlns:p14="http://schemas.microsoft.com/office/powerpoint/2010/main" val="2591665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F212D7B-96E4-D700-687B-F44851FE08E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EEF4B13-1AF4-D576-B09D-24C72DD7F48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5E01BA1-B54E-20D0-EC4A-CED7FE35FB6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A864846-E6F8-44EE-B17D-0505FE20A5AF}" type="slidenum">
              <a:rPr lang="es-ES" altLang="fr-FR"/>
              <a:pPr/>
              <a:t>‹N°›</a:t>
            </a:fld>
            <a:endParaRPr lang="es-ES" altLang="fr-FR"/>
          </a:p>
        </p:txBody>
      </p:sp>
    </p:spTree>
    <p:extLst>
      <p:ext uri="{BB962C8B-B14F-4D97-AF65-F5344CB8AC3E}">
        <p14:creationId xmlns:p14="http://schemas.microsoft.com/office/powerpoint/2010/main" val="1688574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B5C371-1E2F-D4F0-6DDB-A96B17592F9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7DE7D4-1AC1-3624-E59B-4087F76CBF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F2FDE8-250D-FE61-DE32-65716D7DB2D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F076977-0ECB-4C7F-BE5D-1F0C6A378691}" type="slidenum">
              <a:rPr lang="es-ES" altLang="fr-FR"/>
              <a:pPr/>
              <a:t>‹N°›</a:t>
            </a:fld>
            <a:endParaRPr lang="es-ES" altLang="fr-FR"/>
          </a:p>
        </p:txBody>
      </p:sp>
    </p:spTree>
    <p:extLst>
      <p:ext uri="{BB962C8B-B14F-4D97-AF65-F5344CB8AC3E}">
        <p14:creationId xmlns:p14="http://schemas.microsoft.com/office/powerpoint/2010/main" val="3131373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D8AAD25-427F-7866-DF14-29A9631DDE0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580186C-2D51-F6B6-D177-D4EFA7C6177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AFBDB29B-BD9B-7FC3-D4CB-92BD9419A6C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28983F1-6949-4EED-B375-77F2E8E3DA81}" type="slidenum">
              <a:rPr lang="es-ES" altLang="fr-FR"/>
              <a:pPr/>
              <a:t>‹N°›</a:t>
            </a:fld>
            <a:endParaRPr lang="es-ES" altLang="fr-FR"/>
          </a:p>
        </p:txBody>
      </p:sp>
    </p:spTree>
    <p:extLst>
      <p:ext uri="{BB962C8B-B14F-4D97-AF65-F5344CB8AC3E}">
        <p14:creationId xmlns:p14="http://schemas.microsoft.com/office/powerpoint/2010/main" val="2782948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AA29226F-D30C-3FBE-4024-C229CAB4CBC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34E896C-DF1A-AD45-C2BA-3135CF8417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D26EEAF-2CE9-607E-F329-AF4E42F8B43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32C0AE8-03F8-4119-ACBB-2A93FA5D34A3}" type="slidenum">
              <a:rPr lang="es-ES" altLang="fr-FR"/>
              <a:pPr/>
              <a:t>‹N°›</a:t>
            </a:fld>
            <a:endParaRPr lang="es-ES" altLang="fr-FR"/>
          </a:p>
        </p:txBody>
      </p:sp>
    </p:spTree>
    <p:extLst>
      <p:ext uri="{BB962C8B-B14F-4D97-AF65-F5344CB8AC3E}">
        <p14:creationId xmlns:p14="http://schemas.microsoft.com/office/powerpoint/2010/main" val="1090181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7C4D8F4-4DE6-3645-245B-D623CEC9E2B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1ED90D08-E585-B897-981D-31CE37DA8E3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C40C88F-6612-111E-40E9-2E613B7105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BB3843B-C585-4F41-8C96-AB1C97BAC9B2}" type="slidenum">
              <a:rPr lang="es-ES" altLang="fr-FR"/>
              <a:pPr/>
              <a:t>‹N°›</a:t>
            </a:fld>
            <a:endParaRPr lang="es-ES" altLang="fr-FR"/>
          </a:p>
        </p:txBody>
      </p:sp>
    </p:spTree>
    <p:extLst>
      <p:ext uri="{BB962C8B-B14F-4D97-AF65-F5344CB8AC3E}">
        <p14:creationId xmlns:p14="http://schemas.microsoft.com/office/powerpoint/2010/main" val="2285009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EF4038-8073-6957-536C-5538E6380D6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9571E1-8B5D-4175-6D59-854FE6D275A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5DD191-5194-BD75-D01C-46261493E44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055039-A781-4AFF-9FAA-BE0D41E7A666}" type="slidenum">
              <a:rPr lang="es-ES" altLang="fr-FR"/>
              <a:pPr/>
              <a:t>‹N°›</a:t>
            </a:fld>
            <a:endParaRPr lang="es-ES" altLang="fr-FR"/>
          </a:p>
        </p:txBody>
      </p:sp>
    </p:spTree>
    <p:extLst>
      <p:ext uri="{BB962C8B-B14F-4D97-AF65-F5344CB8AC3E}">
        <p14:creationId xmlns:p14="http://schemas.microsoft.com/office/powerpoint/2010/main" val="2261444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tr-TR" noProof="0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6DCCEA-1AC3-8D45-2669-33083391023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AA8D5C-CCA0-847E-0ADB-D6A211BAE17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298738-7865-AA21-0D57-A0C04D2A2E5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BC78548-7F8A-499E-A96E-91C7AF867B05}" type="slidenum">
              <a:rPr lang="es-ES" altLang="fr-FR"/>
              <a:pPr/>
              <a:t>‹N°›</a:t>
            </a:fld>
            <a:endParaRPr lang="es-ES" altLang="fr-FR"/>
          </a:p>
        </p:txBody>
      </p:sp>
    </p:spTree>
    <p:extLst>
      <p:ext uri="{BB962C8B-B14F-4D97-AF65-F5344CB8AC3E}">
        <p14:creationId xmlns:p14="http://schemas.microsoft.com/office/powerpoint/2010/main" val="4210861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9F1C638-996E-9D02-C016-5950469D871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7670062-6F8E-B2A5-886B-1EAA591B305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6A38855-3C7C-37F2-8A1D-D4BAFFDBFF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AD108F-66E1-4F05-8A24-DABC04D563CE}" type="slidenum">
              <a:rPr lang="es-ES" altLang="fr-FR"/>
              <a:pPr/>
              <a:t>‹N°›</a:t>
            </a:fld>
            <a:endParaRPr lang="es-ES" altLang="fr-FR"/>
          </a:p>
        </p:txBody>
      </p:sp>
    </p:spTree>
    <p:extLst>
      <p:ext uri="{BB962C8B-B14F-4D97-AF65-F5344CB8AC3E}">
        <p14:creationId xmlns:p14="http://schemas.microsoft.com/office/powerpoint/2010/main" val="3946377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9D24A39-B12B-5C48-8E00-6F35F9B33DC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5173455-247B-CBF2-0EA4-B12873747C9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E66031B-F4C1-1920-31D3-2D16797DCE1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2EFE21E-5073-4AE7-B8EA-1B76CDDCE32A}" type="slidenum">
              <a:rPr lang="es-ES" altLang="fr-FR"/>
              <a:pPr/>
              <a:t>‹N°›</a:t>
            </a:fld>
            <a:endParaRPr lang="es-ES" altLang="fr-FR"/>
          </a:p>
        </p:txBody>
      </p:sp>
    </p:spTree>
    <p:extLst>
      <p:ext uri="{BB962C8B-B14F-4D97-AF65-F5344CB8AC3E}">
        <p14:creationId xmlns:p14="http://schemas.microsoft.com/office/powerpoint/2010/main" val="2926803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06B24FD-41B2-382A-D74A-274EB587BF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fr-FR"/>
              <a:t>Haga clic para cambiar el estilo de título	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BC97ED7-F8B3-028F-4122-94ED7550C4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fr-FR"/>
              <a:t>Haga clic para modificar el estilo de texto del patrón</a:t>
            </a:r>
          </a:p>
          <a:p>
            <a:pPr lvl="1"/>
            <a:r>
              <a:rPr lang="es-ES" altLang="fr-FR"/>
              <a:t>Segundo nivel</a:t>
            </a:r>
          </a:p>
          <a:p>
            <a:pPr lvl="2"/>
            <a:r>
              <a:rPr lang="es-ES" altLang="fr-FR"/>
              <a:t>Tercer nivel</a:t>
            </a:r>
          </a:p>
          <a:p>
            <a:pPr lvl="3"/>
            <a:r>
              <a:rPr lang="es-ES" altLang="fr-FR"/>
              <a:t>Cuarto nivel</a:t>
            </a:r>
          </a:p>
          <a:p>
            <a:pPr lvl="4"/>
            <a:r>
              <a:rPr lang="es-ES" altLang="fr-FR"/>
              <a:t>Quinto nivel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BF2B69D-3CEF-44D6-FDEE-061C026CE13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FEC6CE4F-AA7D-63BC-D0D9-B1CEFB12971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9FAFC97-8A33-2A6A-7D0F-C21DCF13968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51194127-1A4D-4A07-8613-71090DE0D68F}" type="slidenum">
              <a:rPr lang="es-ES" altLang="fr-FR"/>
              <a:pPr/>
              <a:t>‹N°›</a:t>
            </a:fld>
            <a:endParaRPr lang="es-ES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29">
            <a:extLst>
              <a:ext uri="{FF2B5EF4-FFF2-40B4-BE49-F238E27FC236}">
                <a16:creationId xmlns:a16="http://schemas.microsoft.com/office/drawing/2014/main" id="{DB6C02FE-EE09-E989-7588-F6D05AF77E6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6095032" y="5679520"/>
            <a:ext cx="2617849" cy="431800"/>
          </a:xfrm>
        </p:spPr>
        <p:txBody>
          <a:bodyPr/>
          <a:lstStyle/>
          <a:p>
            <a:pPr algn="l" eaLnBrk="1" hangingPunct="1">
              <a:defRPr/>
            </a:pPr>
            <a:r>
              <a:rPr lang="tr-TR" sz="2400" b="1">
                <a:solidFill>
                  <a:srgbClr val="FFFFFF"/>
                </a:solidFill>
                <a:latin typeface="Myriad Pro" pitchFamily="34" charset="0"/>
              </a:rPr>
              <a:t>Marc Bouchez</a:t>
            </a:r>
            <a:endParaRPr lang="tr-TR" sz="2400">
              <a:solidFill>
                <a:srgbClr val="FFFFFF"/>
              </a:solidFill>
              <a:latin typeface="Myriad Pro" pitchFamily="34" charset="0"/>
            </a:endParaRPr>
          </a:p>
        </p:txBody>
      </p:sp>
      <p:sp>
        <p:nvSpPr>
          <p:cNvPr id="2051" name="Rectangle 126">
            <a:extLst>
              <a:ext uri="{FF2B5EF4-FFF2-40B4-BE49-F238E27FC236}">
                <a16:creationId xmlns:a16="http://schemas.microsoft.com/office/drawing/2014/main" id="{42CE60AD-BDFC-51B8-C93A-27D0D6D390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624" y="4767400"/>
            <a:ext cx="3491522" cy="14762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tr-TR" sz="4400">
                <a:solidFill>
                  <a:srgbClr val="FFFFFF"/>
                </a:solidFill>
                <a:latin typeface="Arial"/>
                <a:cs typeface="Arial"/>
              </a:rPr>
              <a:t>Projet 10</a:t>
            </a:r>
            <a:br>
              <a:rPr lang="tr-TR" sz="4400">
                <a:solidFill>
                  <a:srgbClr val="FFFFFF"/>
                </a:solidFill>
                <a:latin typeface="Arial"/>
                <a:cs typeface="Arial"/>
              </a:rPr>
            </a:br>
            <a:r>
              <a:rPr lang="tr-TR" sz="4400">
                <a:solidFill>
                  <a:srgbClr val="FFFFFF"/>
                </a:solidFill>
                <a:latin typeface="Arial"/>
                <a:cs typeface="Arial"/>
              </a:rPr>
              <a:t>BrainScanAI</a:t>
            </a:r>
            <a:endParaRPr lang="fr-FR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 l="-11000" r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91475840-8F03-2425-5705-1B5FE06002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44493" y="887188"/>
            <a:ext cx="3476625" cy="981075"/>
          </a:xfrm>
        </p:spPr>
        <p:txBody>
          <a:bodyPr/>
          <a:lstStyle/>
          <a:p>
            <a:pPr eaLnBrk="1" hangingPunct="1">
              <a:defRPr/>
            </a:pPr>
            <a:r>
              <a:rPr lang="tr-TR">
                <a:solidFill>
                  <a:srgbClr val="FFFFFF"/>
                </a:solidFill>
              </a:rPr>
              <a:t>Contexte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7F4EB3DF-3632-EE81-DAC3-DE7C93502E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481793" y="2201111"/>
            <a:ext cx="4456857" cy="897863"/>
          </a:xfrm>
        </p:spPr>
        <p:txBody>
          <a:bodyPr/>
          <a:lstStyle/>
          <a:p>
            <a:pPr eaLnBrk="1" hangingPunct="1">
              <a:buFont typeface="Wingdings" pitchFamily="2" charset="2"/>
              <a:buChar char="•"/>
              <a:defRPr/>
            </a:pPr>
            <a:r>
              <a:rPr lang="tr-TR" sz="2000">
                <a:solidFill>
                  <a:srgbClr val="FFFFFF"/>
                </a:solidFill>
                <a:ea typeface="+mn-lt"/>
                <a:cs typeface="+mn-lt"/>
              </a:rPr>
              <a:t>Problématique : </a:t>
            </a:r>
            <a:br>
              <a:rPr lang="tr-TR" sz="2000">
                <a:solidFill>
                  <a:srgbClr val="FFFFFF"/>
                </a:solidFill>
                <a:ea typeface="+mn-lt"/>
                <a:cs typeface="+mn-lt"/>
              </a:rPr>
            </a:br>
            <a:r>
              <a:rPr lang="tr-TR" sz="2000">
                <a:solidFill>
                  <a:srgbClr val="FFFFFF"/>
                </a:solidFill>
                <a:ea typeface="+mn-lt"/>
                <a:cs typeface="+mn-lt"/>
              </a:rPr>
              <a:t>détection automatique de tumeurs </a:t>
            </a:r>
            <a:br>
              <a:rPr lang="tr-TR" sz="2000">
                <a:solidFill>
                  <a:srgbClr val="FFFFFF"/>
                </a:solidFill>
                <a:ea typeface="+mn-lt"/>
                <a:cs typeface="+mn-lt"/>
              </a:rPr>
            </a:br>
            <a:r>
              <a:rPr lang="tr-TR" sz="2000">
                <a:solidFill>
                  <a:srgbClr val="FFFFFF"/>
                </a:solidFill>
                <a:ea typeface="+mn-lt"/>
                <a:cs typeface="+mn-lt"/>
              </a:rPr>
              <a:t>sur IRM</a:t>
            </a:r>
            <a:endParaRPr lang="fr-FR">
              <a:solidFill>
                <a:srgbClr val="FFFFFF"/>
              </a:solidFill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59BF6C61-E2C6-AB01-09A1-915B5F3923EC}"/>
              </a:ext>
            </a:extLst>
          </p:cNvPr>
          <p:cNvSpPr txBox="1"/>
          <p:nvPr/>
        </p:nvSpPr>
        <p:spPr>
          <a:xfrm>
            <a:off x="4572001" y="3428999"/>
            <a:ext cx="4723678" cy="64177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lnSpc>
                <a:spcPts val="2110"/>
              </a:lnSpc>
              <a:buFont typeface="Wingdings,sans-serif"/>
              <a:buChar char="•"/>
            </a:pPr>
            <a:r>
              <a:rPr lang="tr-TR" sz="2000" b="0" i="0" u="none" strike="noStrike" baseline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Objectif : exploiter images </a:t>
            </a:r>
            <a:br>
              <a:rPr lang="tr-TR" sz="2000">
                <a:solidFill>
                  <a:srgbClr val="FFFFFF"/>
                </a:solidFill>
                <a:latin typeface="Arial"/>
                <a:ea typeface="Arial"/>
                <a:cs typeface="Arial"/>
              </a:rPr>
            </a:br>
            <a:r>
              <a:rPr lang="tr-TR" sz="2000" b="0" i="0" u="none" strike="noStrike" baseline="0">
                <a:solidFill>
                  <a:srgbClr val="FFFFFF"/>
                </a:solidFill>
                <a:latin typeface="Arial"/>
                <a:ea typeface="Arial"/>
                <a:cs typeface="Arial"/>
              </a:rPr>
              <a:t>+ peu de labels</a:t>
            </a:r>
            <a:r>
              <a:rPr lang="tr-TR" sz="20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​</a:t>
            </a:r>
            <a:endParaRPr lang="fr-FR">
              <a:solidFill>
                <a:srgbClr val="FFFFFF"/>
              </a:solidFill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A0C8AE3-6713-7FC8-F21A-B2BB26048EC3}"/>
              </a:ext>
            </a:extLst>
          </p:cNvPr>
          <p:cNvSpPr txBox="1"/>
          <p:nvPr/>
        </p:nvSpPr>
        <p:spPr>
          <a:xfrm>
            <a:off x="4572001" y="4339067"/>
            <a:ext cx="4572000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lvl="0" indent="-228600" algn="l" rtl="0">
              <a:buFont typeface="Wingdings,sans-serif"/>
              <a:buChar char="•"/>
            </a:pPr>
            <a:r>
              <a:rPr lang="tr-TR" sz="2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Contraintes : ​</a:t>
            </a:r>
            <a:r>
              <a:rPr lang="en-US" sz="20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​</a:t>
            </a:r>
          </a:p>
          <a:p>
            <a:pPr marL="685800" lvl="2" indent="-228600" algn="l" rtl="0">
              <a:buFont typeface="Wingdings"/>
              <a:buChar char="§"/>
            </a:pPr>
            <a:r>
              <a:rPr lang="tr-TR" sz="2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Majorité non labellisée​</a:t>
            </a:r>
            <a:r>
              <a:rPr lang="en-US" sz="20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​</a:t>
            </a:r>
          </a:p>
          <a:p>
            <a:pPr marL="685800" lvl="2" indent="-228600" algn="l" rtl="0">
              <a:buFont typeface="Wingdings"/>
              <a:buChar char="§"/>
            </a:pPr>
            <a:r>
              <a:rPr lang="tr-TR" sz="2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Budget limité​</a:t>
            </a:r>
            <a:r>
              <a:rPr lang="en-US" sz="20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​</a:t>
            </a:r>
          </a:p>
          <a:p>
            <a:pPr marL="685800" lvl="2" indent="-228600" algn="l" rtl="0">
              <a:buFont typeface="Wingdings"/>
              <a:buChar char="§"/>
            </a:pPr>
            <a:r>
              <a:rPr lang="tr-TR" sz="2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Passage à l’échelle (4M images)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4" grpId="0"/>
      <p:bldP spid="3075" grpId="0" build="p"/>
      <p:bldP spid="2" grpId="0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 l="-25000" r="-25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008492-FD07-0B39-DC69-F07A9F1C9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A0B9AB04-CDEE-3CCB-55AE-FDEB9A4BD6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92531" y="1407225"/>
            <a:ext cx="5090909" cy="981075"/>
          </a:xfrm>
          <a:solidFill>
            <a:schemeClr val="tx2"/>
          </a:solidFill>
        </p:spPr>
        <p:txBody>
          <a:bodyPr/>
          <a:lstStyle/>
          <a:p>
            <a:pPr>
              <a:defRPr/>
            </a:pPr>
            <a:r>
              <a:rPr lang="tr-TR">
                <a:solidFill>
                  <a:srgbClr val="FFFFFF"/>
                </a:solidFill>
                <a:ea typeface="+mj-lt"/>
                <a:cs typeface="+mj-lt"/>
              </a:rPr>
              <a:t>Objectifs du projet</a:t>
            </a:r>
            <a:endParaRPr lang="fr-FR">
              <a:solidFill>
                <a:srgbClr val="FFFFFF"/>
              </a:solidFill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3D3FA49-0E4C-BA9C-F612-EE2A152666E7}"/>
              </a:ext>
            </a:extLst>
          </p:cNvPr>
          <p:cNvSpPr txBox="1"/>
          <p:nvPr/>
        </p:nvSpPr>
        <p:spPr>
          <a:xfrm>
            <a:off x="3683602" y="2908962"/>
            <a:ext cx="5232882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000" err="1">
                <a:solidFill>
                  <a:srgbClr val="FFFFFF"/>
                </a:solidFill>
                <a:latin typeface="Arial"/>
                <a:cs typeface="Arial"/>
              </a:rPr>
              <a:t>Extraire</a:t>
            </a:r>
            <a:r>
              <a:rPr lang="en-US" sz="2000">
                <a:solidFill>
                  <a:srgbClr val="FFFFFF"/>
                </a:solidFill>
                <a:latin typeface="Arial"/>
                <a:cs typeface="Arial"/>
              </a:rPr>
              <a:t> des embeddings </a:t>
            </a:r>
            <a:r>
              <a:rPr lang="en-US" sz="2000" err="1">
                <a:solidFill>
                  <a:srgbClr val="FFFFFF"/>
                </a:solidFill>
                <a:latin typeface="Arial"/>
                <a:cs typeface="Arial"/>
              </a:rPr>
              <a:t>visuels</a:t>
            </a:r>
            <a:r>
              <a:rPr lang="en-US" sz="2000">
                <a:solidFill>
                  <a:srgbClr val="FFFFFF"/>
                </a:solidFill>
                <a:latin typeface="Arial"/>
                <a:cs typeface="Arial"/>
              </a:rPr>
              <a:t> </a:t>
            </a:r>
            <a:br>
              <a:rPr lang="en-US" sz="2000">
                <a:solidFill>
                  <a:srgbClr val="FFFFFF"/>
                </a:solidFill>
                <a:latin typeface="Arial"/>
                <a:cs typeface="Arial"/>
              </a:rPr>
            </a:br>
            <a:r>
              <a:rPr lang="en-US" sz="2000">
                <a:solidFill>
                  <a:srgbClr val="FFFFFF"/>
                </a:solidFill>
                <a:latin typeface="Arial"/>
                <a:cs typeface="Arial"/>
              </a:rPr>
              <a:t>via </a:t>
            </a:r>
            <a:r>
              <a:rPr lang="en-US" sz="2000" err="1">
                <a:solidFill>
                  <a:srgbClr val="FFFFFF"/>
                </a:solidFill>
                <a:latin typeface="Arial"/>
                <a:cs typeface="Arial"/>
              </a:rPr>
              <a:t>modèle</a:t>
            </a:r>
            <a:r>
              <a:rPr lang="en-US" sz="200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2000" err="1">
                <a:solidFill>
                  <a:srgbClr val="FFFFFF"/>
                </a:solidFill>
                <a:latin typeface="Arial"/>
                <a:cs typeface="Arial"/>
              </a:rPr>
              <a:t>pré-entraîné</a:t>
            </a:r>
            <a:endParaRPr lang="fr-FR" err="1">
              <a:solidFill>
                <a:srgbClr val="FFFFFF"/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85AEF92-54E8-D371-2D48-63A78677FF72}"/>
              </a:ext>
            </a:extLst>
          </p:cNvPr>
          <p:cNvSpPr txBox="1"/>
          <p:nvPr/>
        </p:nvSpPr>
        <p:spPr>
          <a:xfrm>
            <a:off x="3683603" y="3699853"/>
            <a:ext cx="5460398" cy="63863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lvl="0" indent="-342900" algn="l" rtl="0">
              <a:lnSpc>
                <a:spcPts val="2110"/>
              </a:lnSpc>
              <a:buFont typeface="Arial"/>
              <a:buChar char="•"/>
            </a:pPr>
            <a:r>
              <a:rPr lang="en-US" sz="2000" b="0" i="0" u="none" strike="noStrike" baseline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Explorer structure des données (clustering)</a:t>
            </a:r>
            <a:r>
              <a:rPr lang="en-US" sz="20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​</a:t>
            </a:r>
            <a:endParaRPr lang="fr-FR">
              <a:solidFill>
                <a:srgbClr val="FFFFFF"/>
              </a:solidFill>
            </a:endParaRPr>
          </a:p>
          <a:p>
            <a:pPr lvl="0" algn="ctr" rtl="0"/>
            <a:endParaRPr lang="fr-FR" b="0" i="0" u="none" strike="noStrike" baseline="0">
              <a:solidFill>
                <a:srgbClr val="FFFFFF"/>
              </a:solidFill>
              <a:ea typeface="Arial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B4707EFC-0B9D-A0C6-5466-2B95735F3185}"/>
              </a:ext>
            </a:extLst>
          </p:cNvPr>
          <p:cNvSpPr txBox="1"/>
          <p:nvPr/>
        </p:nvSpPr>
        <p:spPr>
          <a:xfrm>
            <a:off x="3683603" y="4144053"/>
            <a:ext cx="546039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lvl="0" indent="-342900" algn="l" rtl="0">
              <a:buFont typeface="Arial"/>
              <a:buChar char="•"/>
            </a:pPr>
            <a:r>
              <a:rPr lang="en-US" sz="2000" b="0" i="0" u="none" strike="noStrike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Construire</a:t>
            </a:r>
            <a:r>
              <a:rPr lang="en-US" sz="2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000" b="0" i="0" u="none" strike="noStrike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une</a:t>
            </a:r>
            <a:r>
              <a:rPr lang="en-US" sz="2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000" b="0" i="0" u="none" strike="noStrike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approche</a:t>
            </a:r>
            <a:r>
              <a:rPr lang="en-US" sz="2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 semi-</a:t>
            </a:r>
            <a:r>
              <a:rPr lang="en-US" sz="2000" b="0" i="0" u="none" strike="noStrike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supervisée</a:t>
            </a:r>
            <a:r>
              <a:rPr lang="en-US" sz="2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​</a:t>
            </a:r>
            <a:r>
              <a:rPr lang="en-US" sz="20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​</a:t>
            </a:r>
            <a:endParaRPr lang="fr-FR">
              <a:solidFill>
                <a:srgbClr val="FFFFFF"/>
              </a:solidFill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F91CEF5E-237E-CE87-E729-CE2E4372D0F3}"/>
              </a:ext>
            </a:extLst>
          </p:cNvPr>
          <p:cNvSpPr txBox="1"/>
          <p:nvPr/>
        </p:nvSpPr>
        <p:spPr>
          <a:xfrm>
            <a:off x="3683602" y="4620754"/>
            <a:ext cx="5232881" cy="63094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lvl="0" indent="-342900" algn="l" rtl="0">
              <a:lnSpc>
                <a:spcPts val="2110"/>
              </a:lnSpc>
              <a:buFont typeface="Arial"/>
              <a:buChar char="•"/>
            </a:pPr>
            <a:r>
              <a:rPr lang="en-US" sz="2000" b="0" i="0" u="none" strike="noStrike" baseline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Comparer supervision vs semi-supervision​​</a:t>
            </a:r>
            <a:r>
              <a:rPr lang="en-US" sz="20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​</a:t>
            </a:r>
            <a:endParaRPr lang="fr-FR">
              <a:solidFill>
                <a:srgbClr val="FFFFFF"/>
              </a:solidFill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499F489C-64CF-E0EB-368C-7E28BBB37259}"/>
              </a:ext>
            </a:extLst>
          </p:cNvPr>
          <p:cNvSpPr txBox="1"/>
          <p:nvPr/>
        </p:nvSpPr>
        <p:spPr>
          <a:xfrm>
            <a:off x="3683602" y="5119123"/>
            <a:ext cx="499453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Proposer </a:t>
            </a:r>
            <a:r>
              <a:rPr lang="en-US" sz="2000" b="0" i="0" u="none" strike="noStrike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une</a:t>
            </a:r>
            <a:r>
              <a:rPr lang="en-US" sz="2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000" b="0" i="0" u="none" strike="noStrike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stratégie</a:t>
            </a:r>
            <a:r>
              <a:rPr lang="en-US" sz="2000" b="0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000" b="0" i="0" u="none" strike="noStrike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industrialisable</a:t>
            </a:r>
            <a:endParaRPr lang="fr-FR" err="1">
              <a:solidFill>
                <a:srgbClr val="FFFFFF"/>
              </a:solidFill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3E0BAC5-5796-4917-8B87-F9E650016980}"/>
              </a:ext>
            </a:extLst>
          </p:cNvPr>
          <p:cNvSpPr txBox="1"/>
          <p:nvPr/>
        </p:nvSpPr>
        <p:spPr>
          <a:xfrm>
            <a:off x="3683602" y="5605352"/>
            <a:ext cx="499453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rial"/>
                <a:cs typeface="Arial"/>
              </a:rPr>
              <a:t>Recall &gt; 0.9</a:t>
            </a:r>
            <a:endParaRPr lang="en-US" sz="2000">
              <a:solidFill>
                <a:srgbClr val="FFFFFF"/>
              </a:solidFill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FDE6964-4A55-67E7-2DF8-2F7068B5B0FB}"/>
              </a:ext>
            </a:extLst>
          </p:cNvPr>
          <p:cNvSpPr txBox="1"/>
          <p:nvPr/>
        </p:nvSpPr>
        <p:spPr>
          <a:xfrm>
            <a:off x="2486173" y="5605352"/>
            <a:ext cx="103938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rgbClr val="62C53B"/>
                </a:solidFill>
                <a:latin typeface="Arial"/>
                <a:cs typeface="Arial"/>
              </a:rPr>
              <a:t>DoD &gt;</a:t>
            </a:r>
            <a:r>
              <a:rPr lang="en-US" sz="20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endParaRPr lang="en-US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39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4" grpId="0" animBg="1"/>
      <p:bldP spid="6" grpId="0"/>
      <p:bldP spid="7" grpId="0"/>
      <p:bldP spid="8" grpId="0"/>
      <p:bldP spid="9" grpId="0"/>
      <p:bldP spid="10" grpId="0"/>
      <p:bldP spid="3" grpId="0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 t="-83000" b="-8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5A4D422E-7AD2-7AD7-6098-64DD9D79C4C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2"/>
          </a:solidFill>
        </p:spPr>
        <p:txBody>
          <a:bodyPr/>
          <a:lstStyle/>
          <a:p>
            <a:r>
              <a:rPr lang="fr-FR">
                <a:solidFill>
                  <a:srgbClr val="FFFFFF"/>
                </a:solidFill>
                <a:ea typeface="+mj-lt"/>
                <a:cs typeface="+mj-lt"/>
              </a:rPr>
              <a:t>Description du </a:t>
            </a:r>
            <a:r>
              <a:rPr lang="fr-FR" err="1">
                <a:solidFill>
                  <a:srgbClr val="FFFFFF"/>
                </a:solidFill>
                <a:ea typeface="+mj-lt"/>
                <a:cs typeface="+mj-lt"/>
              </a:rPr>
              <a:t>dataset</a:t>
            </a:r>
            <a:endParaRPr lang="fr-FR" err="1">
              <a:solidFill>
                <a:srgbClr val="FFFFFF"/>
              </a:solidFill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1BC937D-3827-37CC-4220-65783CBAF881}"/>
              </a:ext>
            </a:extLst>
          </p:cNvPr>
          <p:cNvSpPr txBox="1"/>
          <p:nvPr/>
        </p:nvSpPr>
        <p:spPr>
          <a:xfrm>
            <a:off x="593746" y="1930318"/>
            <a:ext cx="27432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>
                <a:solidFill>
                  <a:srgbClr val="FFFFFF"/>
                </a:solidFill>
                <a:latin typeface="Arial"/>
                <a:cs typeface="Arial"/>
              </a:rPr>
              <a:t>Images IRM </a:t>
            </a:r>
            <a:endParaRPr lang="fr-FR">
              <a:solidFill>
                <a:srgbClr val="FFFFFF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fr-FR">
                <a:solidFill>
                  <a:srgbClr val="FFFFFF"/>
                </a:solidFill>
                <a:latin typeface="Arial"/>
                <a:cs typeface="Arial"/>
              </a:rPr>
              <a:t>Jpg</a:t>
            </a:r>
            <a:endParaRPr lang="fr-FR">
              <a:solidFill>
                <a:srgbClr val="FFFFFF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fr-FR">
                <a:solidFill>
                  <a:srgbClr val="FFFFFF"/>
                </a:solidFill>
                <a:latin typeface="Arial"/>
                <a:cs typeface="Arial"/>
              </a:rPr>
              <a:t>Avec label: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D1D74DC-C4A7-45B0-DBE8-B67D41C8F2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3366" y="1802062"/>
            <a:ext cx="2152650" cy="2114550"/>
          </a:xfrm>
          <a:prstGeom prst="rect">
            <a:avLst/>
          </a:prstGeom>
        </p:spPr>
      </p:pic>
      <p:pic>
        <p:nvPicPr>
          <p:cNvPr id="7" name="Image 6" descr="Une image contenant pièce, cercle, noir et blanc&#10;&#10;Le contenu généré par l’IA peut être incorrect.">
            <a:extLst>
              <a:ext uri="{FF2B5EF4-FFF2-40B4-BE49-F238E27FC236}">
                <a16:creationId xmlns:a16="http://schemas.microsoft.com/office/drawing/2014/main" id="{A91869C6-057E-5BA7-16E9-4F115BF299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2882" y="4451796"/>
            <a:ext cx="2066925" cy="2066925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EAF5E8FE-0108-8C3C-A616-B8BF36F38D26}"/>
              </a:ext>
            </a:extLst>
          </p:cNvPr>
          <p:cNvSpPr txBox="1"/>
          <p:nvPr/>
        </p:nvSpPr>
        <p:spPr>
          <a:xfrm>
            <a:off x="1576365" y="3062961"/>
            <a:ext cx="123509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800" b="0" i="0" u="none" strike="noStrike" baseline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50 </a:t>
            </a:r>
            <a:r>
              <a:rPr lang="fr-FR" sz="1800" b="0" i="0" u="none" strike="noStrike" baseline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cancer</a:t>
            </a:r>
            <a:endParaRPr lang="fr-FR" err="1">
              <a:solidFill>
                <a:srgbClr val="FFFFFF"/>
              </a:solidFill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D173C9A-2A4A-8FE1-5BF1-EEFFE909DE47}"/>
              </a:ext>
            </a:extLst>
          </p:cNvPr>
          <p:cNvSpPr txBox="1"/>
          <p:nvPr/>
        </p:nvSpPr>
        <p:spPr>
          <a:xfrm>
            <a:off x="1055891" y="4272320"/>
            <a:ext cx="18092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800" b="0" i="0" u="none" strike="noStrike" baseline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50 </a:t>
            </a:r>
            <a:r>
              <a:rPr lang="fr-FR">
                <a:solidFill>
                  <a:srgbClr val="FFFFFF"/>
                </a:solidFill>
                <a:latin typeface="Arial"/>
                <a:ea typeface="Arial"/>
                <a:cs typeface="Arial"/>
              </a:rPr>
              <a:t>sans cancer</a:t>
            </a:r>
            <a:endParaRPr lang="fr-FR">
              <a:solidFill>
                <a:srgbClr val="FFFFFF"/>
              </a:solidFill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8B0129AF-B04D-2A60-B371-68133F45D538}"/>
              </a:ext>
            </a:extLst>
          </p:cNvPr>
          <p:cNvSpPr txBox="1"/>
          <p:nvPr/>
        </p:nvSpPr>
        <p:spPr>
          <a:xfrm>
            <a:off x="878580" y="5744987"/>
            <a:ext cx="1928474" cy="57964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lvl="0" indent="-285750" algn="l" rtl="0">
              <a:lnSpc>
                <a:spcPts val="1899"/>
              </a:lnSpc>
              <a:buFont typeface="Arial,Sans-Serif"/>
              <a:buChar char="•"/>
            </a:pPr>
            <a:r>
              <a:rPr lang="fr-FR" sz="1800" b="0" i="0" u="none" strike="noStrike" baseline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sans label :</a:t>
            </a:r>
            <a:r>
              <a:rPr lang="fr-FR" sz="18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​</a:t>
            </a:r>
          </a:p>
          <a:p>
            <a:pPr marL="742950" lvl="1" indent="-285750" algn="l" rtl="0">
              <a:lnSpc>
                <a:spcPts val="1899"/>
              </a:lnSpc>
              <a:buFont typeface="Courier New,monospace"/>
              <a:buChar char="o"/>
            </a:pPr>
            <a:r>
              <a:rPr lang="fr-FR" sz="1800" b="0" i="0" u="none" strike="noStrike" baseline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1406</a:t>
            </a:r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959BD4B0-9B50-5B69-45C3-AE19D47ABD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8993534"/>
              </p:ext>
            </p:extLst>
          </p:nvPr>
        </p:nvGraphicFramePr>
        <p:xfrm>
          <a:off x="5694744" y="3408744"/>
          <a:ext cx="2600582" cy="2125163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60952">
                  <a:extLst>
                    <a:ext uri="{9D8B030D-6E8A-4147-A177-3AD203B41FA5}">
                      <a16:colId xmlns:a16="http://schemas.microsoft.com/office/drawing/2014/main" val="3479962123"/>
                    </a:ext>
                  </a:extLst>
                </a:gridCol>
                <a:gridCol w="1539630">
                  <a:extLst>
                    <a:ext uri="{9D8B030D-6E8A-4147-A177-3AD203B41FA5}">
                      <a16:colId xmlns:a16="http://schemas.microsoft.com/office/drawing/2014/main" val="1583200860"/>
                    </a:ext>
                  </a:extLst>
                </a:gridCol>
              </a:tblGrid>
              <a:tr h="3878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solidFill>
                            <a:schemeClr val="bg1"/>
                          </a:solidFill>
                        </a:rPr>
                        <a:t>Classe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solidFill>
                            <a:schemeClr val="bg1"/>
                          </a:solidFill>
                        </a:rPr>
                        <a:t>Pourcentage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43484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solidFill>
                            <a:schemeClr val="bg1"/>
                          </a:solidFill>
                        </a:rPr>
                        <a:t>Cancer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solidFill>
                            <a:schemeClr val="bg1"/>
                          </a:solidFill>
                        </a:rPr>
                        <a:t>3.4 %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7328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solidFill>
                            <a:schemeClr val="bg1"/>
                          </a:solidFill>
                        </a:rPr>
                        <a:t>Normal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solidFill>
                            <a:schemeClr val="bg1"/>
                          </a:solidFill>
                        </a:rPr>
                        <a:t>3.4 %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05557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solidFill>
                            <a:schemeClr val="bg1"/>
                          </a:solidFill>
                        </a:rPr>
                        <a:t>Sans label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>
                          <a:solidFill>
                            <a:schemeClr val="bg1"/>
                          </a:solidFill>
                        </a:rPr>
                        <a:t>93.2 %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49776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>
                          <a:solidFill>
                            <a:schemeClr val="bg1"/>
                          </a:solidFill>
                        </a:rPr>
                        <a:t>Total</a:t>
                      </a:r>
                      <a:endParaRPr lang="fr-FR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>
                          <a:solidFill>
                            <a:schemeClr val="bg1"/>
                          </a:solidFill>
                        </a:rPr>
                        <a:t>100 %</a:t>
                      </a:r>
                      <a:endParaRPr lang="fr-FR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3355578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8" grpId="0"/>
      <p:bldP spid="9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 l="-25000" r="-25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ECE4C7-1EF1-8C48-8310-BBBB52EB9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8FCA8CD8-496B-1691-7351-4C5FB3B2F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619" y="222776"/>
            <a:ext cx="8229600" cy="1143000"/>
          </a:xfrm>
          <a:solidFill>
            <a:schemeClr val="tx2"/>
          </a:solidFill>
        </p:spPr>
        <p:txBody>
          <a:bodyPr/>
          <a:lstStyle/>
          <a:p>
            <a:r>
              <a:rPr lang="fr-FR">
                <a:solidFill>
                  <a:srgbClr val="FFFFFF"/>
                </a:solidFill>
                <a:ea typeface="+mj-lt"/>
                <a:cs typeface="+mj-lt"/>
              </a:rPr>
              <a:t>Prétraitement des données</a:t>
            </a:r>
            <a:endParaRPr lang="fr-FR">
              <a:solidFill>
                <a:srgbClr val="FFFFFF"/>
              </a:solidFill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949497D-6E39-E306-3099-6BC85E284C5C}"/>
              </a:ext>
            </a:extLst>
          </p:cNvPr>
          <p:cNvSpPr txBox="1"/>
          <p:nvPr/>
        </p:nvSpPr>
        <p:spPr>
          <a:xfrm>
            <a:off x="2719363" y="2556851"/>
            <a:ext cx="565757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fr-FR">
                <a:solidFill>
                  <a:srgbClr val="FFFFFF"/>
                </a:solidFill>
                <a:latin typeface="Arial"/>
                <a:cs typeface="Arial"/>
              </a:rPr>
              <a:t>Redimensionnement (224x224)</a:t>
            </a:r>
            <a:endParaRPr lang="fr-FR">
              <a:solidFill>
                <a:srgbClr val="FFFFFF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fr-FR">
                <a:solidFill>
                  <a:srgbClr val="FFFFFF"/>
                </a:solidFill>
                <a:latin typeface="Arial"/>
                <a:cs typeface="Arial"/>
              </a:rPr>
              <a:t>Normalisation </a:t>
            </a:r>
            <a:r>
              <a:rPr lang="fr-FR" err="1">
                <a:solidFill>
                  <a:srgbClr val="FFFFFF"/>
                </a:solidFill>
                <a:latin typeface="Arial"/>
                <a:cs typeface="Arial"/>
              </a:rPr>
              <a:t>ImageNet</a:t>
            </a:r>
            <a:r>
              <a:rPr lang="fr-FR">
                <a:solidFill>
                  <a:srgbClr val="FFFFFF"/>
                </a:solidFill>
                <a:latin typeface="Arial"/>
                <a:cs typeface="Arial"/>
              </a:rPr>
              <a:t> (</a:t>
            </a:r>
            <a:r>
              <a:rPr lang="fr-FR" err="1">
                <a:solidFill>
                  <a:srgbClr val="FFFFFF"/>
                </a:solidFill>
                <a:latin typeface="Arial"/>
                <a:cs typeface="Arial"/>
              </a:rPr>
              <a:t>ResNet</a:t>
            </a:r>
            <a:r>
              <a:rPr lang="fr-FR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lang="fr-FR">
              <a:solidFill>
                <a:srgbClr val="FFFFFF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fr-FR" err="1">
                <a:solidFill>
                  <a:srgbClr val="FFFFFF"/>
                </a:solidFill>
                <a:latin typeface="Arial"/>
                <a:cs typeface="Arial"/>
              </a:rPr>
              <a:t>Equalisation</a:t>
            </a:r>
            <a:r>
              <a:rPr lang="fr-FR">
                <a:solidFill>
                  <a:srgbClr val="FFFFFF"/>
                </a:solidFill>
                <a:latin typeface="Arial"/>
                <a:cs typeface="Arial"/>
              </a:rPr>
              <a:t> histogramme </a:t>
            </a:r>
            <a:endParaRPr lang="fr-FR">
              <a:solidFill>
                <a:srgbClr val="FFFFFF"/>
              </a:solidFill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D7C68BA3-567C-737E-EC69-F1D3B8DD832B}"/>
              </a:ext>
            </a:extLst>
          </p:cNvPr>
          <p:cNvSpPr txBox="1"/>
          <p:nvPr/>
        </p:nvSpPr>
        <p:spPr>
          <a:xfrm>
            <a:off x="2936047" y="4653256"/>
            <a:ext cx="4572000" cy="10669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lvl="0" indent="-285750" algn="l" rtl="0">
              <a:lnSpc>
                <a:spcPts val="1899"/>
              </a:lnSpc>
              <a:buFont typeface="Arial,Sans-Serif"/>
              <a:buChar char="•"/>
            </a:pPr>
            <a:r>
              <a:rPr lang="fr-FR" sz="1800" b="0" i="0" u="none" strike="noStrike" baseline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Séparation stricte : </a:t>
            </a:r>
            <a:r>
              <a:rPr lang="fr-FR" sz="18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​</a:t>
            </a:r>
          </a:p>
          <a:p>
            <a:pPr marL="742950" lvl="1" indent="-285750" algn="l" rtl="0">
              <a:lnSpc>
                <a:spcPts val="1899"/>
              </a:lnSpc>
              <a:buFont typeface="Arial,Sans-Serif"/>
              <a:buChar char="•"/>
            </a:pPr>
            <a:r>
              <a:rPr lang="fr-FR" sz="1800" b="0" i="0" u="none" strike="noStrike" baseline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dataset</a:t>
            </a:r>
            <a:r>
              <a:rPr lang="fr-FR" sz="1800" b="0" i="0" u="none" strike="noStrike" baseline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labellisé</a:t>
            </a:r>
            <a:r>
              <a:rPr lang="fr-FR" sz="18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​</a:t>
            </a:r>
          </a:p>
          <a:p>
            <a:pPr marL="742950" lvl="1" indent="-285750" algn="l" rtl="0">
              <a:lnSpc>
                <a:spcPts val="1899"/>
              </a:lnSpc>
              <a:buFont typeface="Arial,Sans-Serif"/>
              <a:buChar char="•"/>
            </a:pPr>
            <a:r>
              <a:rPr lang="fr-FR" sz="1800" b="0" i="0" u="none" strike="noStrike" baseline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dataset</a:t>
            </a:r>
            <a:r>
              <a:rPr lang="fr-FR" sz="1800" b="0" i="0" u="none" strike="noStrike" baseline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non labellisé</a:t>
            </a:r>
          </a:p>
          <a:p>
            <a:pPr marL="742950" lvl="1" indent="-285750">
              <a:lnSpc>
                <a:spcPts val="1898"/>
              </a:lnSpc>
              <a:buFont typeface="Arial,Sans-Serif"/>
              <a:buChar char="•"/>
            </a:pPr>
            <a:r>
              <a:rPr lang="fr-FR">
                <a:solidFill>
                  <a:srgbClr val="FFFFFF"/>
                </a:solidFill>
                <a:latin typeface="Arial"/>
                <a:ea typeface="Arial"/>
                <a:cs typeface="Arial"/>
              </a:rPr>
              <a:t>Sauvegarde pour rechargement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4328125-7F1B-2759-745D-2BD7A24208EF}"/>
              </a:ext>
            </a:extLst>
          </p:cNvPr>
          <p:cNvSpPr txBox="1"/>
          <p:nvPr/>
        </p:nvSpPr>
        <p:spPr>
          <a:xfrm>
            <a:off x="2286000" y="2090985"/>
            <a:ext cx="27432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fr-FR" sz="2400" b="1">
                <a:solidFill>
                  <a:srgbClr val="FFFFFF"/>
                </a:solidFill>
                <a:latin typeface="Arial"/>
                <a:cs typeface="Arial"/>
              </a:rPr>
              <a:t>Transformation</a:t>
            </a:r>
            <a:endParaRPr lang="fr-FR" sz="2400" b="1">
              <a:solidFill>
                <a:srgbClr val="FFFFFF"/>
              </a:solidFill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D3DBB1F9-E303-A83A-BE66-360EB4F1B7FD}"/>
              </a:ext>
            </a:extLst>
          </p:cNvPr>
          <p:cNvSpPr txBox="1"/>
          <p:nvPr/>
        </p:nvSpPr>
        <p:spPr>
          <a:xfrm>
            <a:off x="2806039" y="4106131"/>
            <a:ext cx="27432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fr-FR" sz="2400" b="1">
                <a:solidFill>
                  <a:srgbClr val="FFFFFF"/>
                </a:solidFill>
                <a:latin typeface="Arial"/>
                <a:cs typeface="Arial"/>
              </a:rPr>
              <a:t>Traitement</a:t>
            </a:r>
            <a:endParaRPr lang="fr-FR" sz="2400" b="1">
              <a:solidFill>
                <a:srgbClr val="FFFFFF"/>
              </a:solidFill>
            </a:endParaRPr>
          </a:p>
        </p:txBody>
      </p:sp>
      <p:pic>
        <p:nvPicPr>
          <p:cNvPr id="7" name="Image 6" descr="Imagerie neurologique | Centre d'imagerie médicale IMRO">
            <a:extLst>
              <a:ext uri="{FF2B5EF4-FFF2-40B4-BE49-F238E27FC236}">
                <a16:creationId xmlns:a16="http://schemas.microsoft.com/office/drawing/2014/main" id="{900E9885-034F-A523-FEBE-EF1805B2562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49"/>
          <a:stretch>
            <a:fillRect/>
          </a:stretch>
        </p:blipFill>
        <p:spPr>
          <a:xfrm rot="5400000">
            <a:off x="-1950582" y="3301773"/>
            <a:ext cx="5493202" cy="1611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195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2" grpId="0"/>
      <p:bldP spid="5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 l="-25000" r="-25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DFB20C-54D1-91ED-E092-03C422755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31BF2718-08BE-7E4D-9950-D29B5835E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551" y="307140"/>
            <a:ext cx="8229600" cy="1143000"/>
          </a:xfrm>
          <a:solidFill>
            <a:schemeClr val="tx2"/>
          </a:solidFill>
        </p:spPr>
        <p:txBody>
          <a:bodyPr/>
          <a:lstStyle/>
          <a:p>
            <a:r>
              <a:rPr lang="fr-FR">
                <a:solidFill>
                  <a:srgbClr val="FFFFFF"/>
                </a:solidFill>
                <a:ea typeface="+mj-lt"/>
                <a:cs typeface="+mj-lt"/>
              </a:rPr>
              <a:t>Extraction de </a:t>
            </a:r>
            <a:r>
              <a:rPr lang="fr-FR" err="1">
                <a:solidFill>
                  <a:srgbClr val="FFFFFF"/>
                </a:solidFill>
                <a:ea typeface="+mj-lt"/>
                <a:cs typeface="+mj-lt"/>
              </a:rPr>
              <a:t>features</a:t>
            </a:r>
            <a:endParaRPr lang="fr-FR" err="1">
              <a:solidFill>
                <a:srgbClr val="FFFFFF"/>
              </a:solidFill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BD8A389-1A26-C0F2-B563-40353B3A0E1C}"/>
              </a:ext>
            </a:extLst>
          </p:cNvPr>
          <p:cNvSpPr txBox="1"/>
          <p:nvPr/>
        </p:nvSpPr>
        <p:spPr>
          <a:xfrm>
            <a:off x="880023" y="2039747"/>
            <a:ext cx="5657579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400" b="1">
                <a:solidFill>
                  <a:srgbClr val="FFFFFF"/>
                </a:solidFill>
                <a:latin typeface="Arial"/>
                <a:cs typeface="Arial"/>
              </a:rPr>
              <a:t>Modèle choisi :</a:t>
            </a:r>
            <a:r>
              <a:rPr lang="fr-FR" sz="2400">
                <a:solidFill>
                  <a:srgbClr val="FFFFFF"/>
                </a:solidFill>
                <a:latin typeface="Arial"/>
                <a:cs typeface="Arial"/>
              </a:rPr>
              <a:t> </a:t>
            </a:r>
            <a:endParaRPr lang="fr-FR">
              <a:solidFill>
                <a:srgbClr val="FFFFFF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fr-FR">
                <a:solidFill>
                  <a:srgbClr val="FFFFFF"/>
                </a:solidFill>
                <a:latin typeface="Arial"/>
                <a:cs typeface="Arial"/>
              </a:rPr>
              <a:t>ResNet50</a:t>
            </a:r>
            <a:endParaRPr lang="fr-FR" err="1">
              <a:solidFill>
                <a:srgbClr val="FFFFFF"/>
              </a:solidFill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18F60572-D0BB-1018-7E34-1082AB085452}"/>
              </a:ext>
            </a:extLst>
          </p:cNvPr>
          <p:cNvSpPr txBox="1"/>
          <p:nvPr/>
        </p:nvSpPr>
        <p:spPr>
          <a:xfrm>
            <a:off x="880024" y="3681118"/>
            <a:ext cx="4572000" cy="10669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ts val="1899"/>
              </a:lnSpc>
              <a:buFont typeface="Arial"/>
              <a:buChar char="•"/>
            </a:pPr>
            <a:r>
              <a:rPr lang="fr-FR" err="1">
                <a:solidFill>
                  <a:srgbClr val="FFFFFF"/>
                </a:solidFill>
                <a:latin typeface="Arial"/>
                <a:cs typeface="Arial"/>
              </a:rPr>
              <a:t>nn.Identity</a:t>
            </a:r>
            <a:r>
              <a:rPr lang="fr-FR">
                <a:solidFill>
                  <a:srgbClr val="FFFFFF"/>
                </a:solidFill>
                <a:latin typeface="Arial"/>
                <a:cs typeface="Arial"/>
              </a:rPr>
              <a:t> &lt;-</a:t>
            </a:r>
            <a:r>
              <a:rPr lang="fr-FR" err="1">
                <a:solidFill>
                  <a:srgbClr val="FFFFFF"/>
                </a:solidFill>
                <a:latin typeface="Arial"/>
                <a:cs typeface="Arial"/>
              </a:rPr>
              <a:t>model.fc</a:t>
            </a:r>
            <a:endParaRPr lang="fr-FR">
              <a:solidFill>
                <a:srgbClr val="FFFFFF"/>
              </a:solidFill>
              <a:latin typeface="Arial"/>
              <a:cs typeface="Arial"/>
            </a:endParaRPr>
          </a:p>
          <a:p>
            <a:pPr marL="285750" indent="-285750">
              <a:lnSpc>
                <a:spcPts val="1898"/>
              </a:lnSpc>
              <a:buFont typeface="Arial"/>
              <a:buChar char="•"/>
            </a:pPr>
            <a:r>
              <a:rPr lang="fr-FR">
                <a:solidFill>
                  <a:srgbClr val="FFFFFF"/>
                </a:solidFill>
                <a:latin typeface="Arial"/>
                <a:cs typeface="Arial"/>
              </a:rPr>
              <a:t>Évaluation : </a:t>
            </a:r>
            <a:r>
              <a:rPr lang="fr-FR" err="1">
                <a:solidFill>
                  <a:srgbClr val="FFFFFF"/>
                </a:solidFill>
                <a:latin typeface="Arial"/>
                <a:cs typeface="Arial"/>
              </a:rPr>
              <a:t>eval</a:t>
            </a:r>
            <a:r>
              <a:rPr lang="fr-FR">
                <a:solidFill>
                  <a:srgbClr val="FFFFFF"/>
                </a:solidFill>
                <a:latin typeface="Arial"/>
                <a:cs typeface="Arial"/>
              </a:rPr>
              <a:t>()</a:t>
            </a:r>
          </a:p>
          <a:p>
            <a:pPr marL="285750" indent="-285750">
              <a:lnSpc>
                <a:spcPts val="1898"/>
              </a:lnSpc>
              <a:buFont typeface="Arial"/>
              <a:buChar char="•"/>
            </a:pPr>
            <a:r>
              <a:rPr lang="fr-FR" err="1">
                <a:solidFill>
                  <a:srgbClr val="FFFFFF"/>
                </a:solidFill>
                <a:latin typeface="Arial"/>
                <a:cs typeface="Arial"/>
              </a:rPr>
              <a:t>torch.no_grad</a:t>
            </a:r>
            <a:r>
              <a:rPr lang="fr-FR">
                <a:solidFill>
                  <a:srgbClr val="FFFFFF"/>
                </a:solidFill>
                <a:latin typeface="Arial"/>
                <a:cs typeface="Arial"/>
              </a:rPr>
              <a:t>() : réduit la </a:t>
            </a:r>
            <a:br>
              <a:rPr lang="fr-FR">
                <a:solidFill>
                  <a:srgbClr val="FFFFFF"/>
                </a:solidFill>
                <a:latin typeface="Arial"/>
                <a:cs typeface="Arial"/>
              </a:rPr>
            </a:br>
            <a:r>
              <a:rPr lang="fr-FR">
                <a:solidFill>
                  <a:srgbClr val="FFFFFF"/>
                </a:solidFill>
                <a:latin typeface="Arial"/>
                <a:cs typeface="Arial"/>
              </a:rPr>
              <a:t>consommation</a:t>
            </a:r>
            <a:endParaRPr lang="fr-FR" err="1">
              <a:solidFill>
                <a:srgbClr val="FFFFFF"/>
              </a:solidFill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DD62EFD3-DCCD-A2F5-BA30-3B8C413F35EE}"/>
              </a:ext>
            </a:extLst>
          </p:cNvPr>
          <p:cNvSpPr txBox="1"/>
          <p:nvPr/>
        </p:nvSpPr>
        <p:spPr>
          <a:xfrm>
            <a:off x="880024" y="3220431"/>
            <a:ext cx="27432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fr-FR" sz="2400" b="1">
                <a:solidFill>
                  <a:srgbClr val="FFFFFF"/>
                </a:solidFill>
                <a:latin typeface="Arial"/>
                <a:cs typeface="Arial"/>
              </a:rPr>
              <a:t>Couche</a:t>
            </a:r>
            <a:endParaRPr lang="fr-FR" sz="2400" b="1">
              <a:solidFill>
                <a:srgbClr val="FFFFFF"/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C64E522-61A8-4BC3-8E7D-4C01A26A9DEF}"/>
              </a:ext>
            </a:extLst>
          </p:cNvPr>
          <p:cNvSpPr txBox="1"/>
          <p:nvPr/>
        </p:nvSpPr>
        <p:spPr>
          <a:xfrm>
            <a:off x="880024" y="4845786"/>
            <a:ext cx="274320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fr-FR" sz="2400" b="1">
                <a:solidFill>
                  <a:srgbClr val="FFFFFF"/>
                </a:solidFill>
                <a:latin typeface="Arial"/>
                <a:cs typeface="Arial"/>
              </a:rPr>
              <a:t>Résultat</a:t>
            </a:r>
          </a:p>
          <a:p>
            <a:pPr marL="342900" indent="-342900">
              <a:buFont typeface="Arial"/>
              <a:buChar char="•"/>
            </a:pPr>
            <a:r>
              <a:rPr lang="fr-FR" err="1">
                <a:solidFill>
                  <a:srgbClr val="FFFFFF"/>
                </a:solidFill>
                <a:latin typeface="Arial"/>
                <a:cs typeface="Arial"/>
              </a:rPr>
              <a:t>Embding</a:t>
            </a:r>
            <a:endParaRPr lang="fr-FR" err="1">
              <a:solidFill>
                <a:srgbClr val="FFFFFF"/>
              </a:solidFill>
            </a:endParaRPr>
          </a:p>
        </p:txBody>
      </p:sp>
      <p:pic>
        <p:nvPicPr>
          <p:cNvPr id="5" name="Image 4" descr="Une image contenant texte, diagramme, Tracé, ligne&#10;&#10;Le contenu généré par l’IA peut être incorrect.">
            <a:extLst>
              <a:ext uri="{FF2B5EF4-FFF2-40B4-BE49-F238E27FC236}">
                <a16:creationId xmlns:a16="http://schemas.microsoft.com/office/drawing/2014/main" id="{F531ECFD-359A-153E-94FA-4693D7EACE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4768" y="3047773"/>
            <a:ext cx="4376058" cy="3401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064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2" grpId="0"/>
      <p:bldP spid="11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 t="-83000" b="-83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A3B3AD-5F42-FF7D-4250-4343BB82C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49C51D87-D1FB-7A90-657E-EAE7E366C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864" y="183564"/>
            <a:ext cx="6806316" cy="928688"/>
          </a:xfrm>
          <a:solidFill>
            <a:schemeClr val="tx2"/>
          </a:solidFill>
        </p:spPr>
        <p:txBody>
          <a:bodyPr/>
          <a:lstStyle/>
          <a:p>
            <a:r>
              <a:rPr lang="fr-FR">
                <a:solidFill>
                  <a:srgbClr val="FFFFFF"/>
                </a:solidFill>
                <a:ea typeface="+mj-lt"/>
                <a:cs typeface="+mj-lt"/>
              </a:rPr>
              <a:t>Visualisation des  Clusters</a:t>
            </a:r>
            <a:endParaRPr lang="fr-FR" err="1">
              <a:solidFill>
                <a:srgbClr val="FFFFFF"/>
              </a:solidFill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472D30D-409F-0448-66DD-B9AFAC8B4706}"/>
              </a:ext>
            </a:extLst>
          </p:cNvPr>
          <p:cNvSpPr txBox="1"/>
          <p:nvPr/>
        </p:nvSpPr>
        <p:spPr>
          <a:xfrm>
            <a:off x="639212" y="1787629"/>
            <a:ext cx="85806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>
                <a:solidFill>
                  <a:srgbClr val="FFFFFF"/>
                </a:solidFill>
              </a:rPr>
              <a:t>PCA</a:t>
            </a:r>
            <a:endParaRPr lang="fr-FR" err="1">
              <a:solidFill>
                <a:srgbClr val="FFFFFF"/>
              </a:solidFill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8FCE64B-4DAF-2091-38F7-937CC94139D8}"/>
              </a:ext>
            </a:extLst>
          </p:cNvPr>
          <p:cNvSpPr txBox="1"/>
          <p:nvPr/>
        </p:nvSpPr>
        <p:spPr>
          <a:xfrm>
            <a:off x="4368003" y="4617486"/>
            <a:ext cx="1041374" cy="3801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>
                <a:solidFill>
                  <a:srgbClr val="FFFFFF"/>
                </a:solidFill>
                <a:latin typeface="Arial"/>
                <a:cs typeface="Arial"/>
              </a:rPr>
              <a:t>T-SNE</a:t>
            </a:r>
            <a:endParaRPr lang="fr-FR" err="1">
              <a:solidFill>
                <a:srgbClr val="FFFFFF"/>
              </a:solidFill>
            </a:endParaRPr>
          </a:p>
        </p:txBody>
      </p:sp>
      <p:pic>
        <p:nvPicPr>
          <p:cNvPr id="2" name="Image 1" descr="Une image contenant texte, capture d’écran, diagramme, Tracé&#10;&#10;Le contenu généré par l’IA peut être incorrect.">
            <a:extLst>
              <a:ext uri="{FF2B5EF4-FFF2-40B4-BE49-F238E27FC236}">
                <a16:creationId xmlns:a16="http://schemas.microsoft.com/office/drawing/2014/main" id="{ADA9268A-1A71-552A-DEE8-23A480224C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3670" y="1105401"/>
            <a:ext cx="3810502" cy="2974808"/>
          </a:xfrm>
          <a:prstGeom prst="rect">
            <a:avLst/>
          </a:prstGeom>
        </p:spPr>
      </p:pic>
      <p:pic>
        <p:nvPicPr>
          <p:cNvPr id="5" name="Image 4" descr="Une image contenant texte, capture d’écran, Caractère coloré, diagramme&#10;&#10;Le contenu généré par l’IA peut être incorrect.">
            <a:extLst>
              <a:ext uri="{FF2B5EF4-FFF2-40B4-BE49-F238E27FC236}">
                <a16:creationId xmlns:a16="http://schemas.microsoft.com/office/drawing/2014/main" id="{0CD013F7-251D-9154-F87B-C9C7E28AEA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9185" y="3720098"/>
            <a:ext cx="3585912" cy="2773279"/>
          </a:xfrm>
          <a:prstGeom prst="rect">
            <a:avLst/>
          </a:prstGeom>
        </p:spPr>
      </p:pic>
      <p:graphicFrame>
        <p:nvGraphicFramePr>
          <p:cNvPr id="11" name="Tableau 10">
            <a:extLst>
              <a:ext uri="{FF2B5EF4-FFF2-40B4-BE49-F238E27FC236}">
                <a16:creationId xmlns:a16="http://schemas.microsoft.com/office/drawing/2014/main" id="{11B74F8C-E90C-89EB-044B-1395A9392A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2783203"/>
              </p:ext>
            </p:extLst>
          </p:nvPr>
        </p:nvGraphicFramePr>
        <p:xfrm>
          <a:off x="474452" y="4724688"/>
          <a:ext cx="2839448" cy="14630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672389">
                  <a:extLst>
                    <a:ext uri="{9D8B030D-6E8A-4147-A177-3AD203B41FA5}">
                      <a16:colId xmlns:a16="http://schemas.microsoft.com/office/drawing/2014/main" val="12898281"/>
                    </a:ext>
                  </a:extLst>
                </a:gridCol>
                <a:gridCol w="1167059">
                  <a:extLst>
                    <a:ext uri="{9D8B030D-6E8A-4147-A177-3AD203B41FA5}">
                      <a16:colId xmlns:a16="http://schemas.microsoft.com/office/drawing/2014/main" val="29685371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             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ARI max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38904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err="1"/>
                        <a:t>KMeans</a:t>
                      </a:r>
                      <a:r>
                        <a:rPr lang="fr-FR"/>
                        <a:t>        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0.1322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22411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DBSCAN        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0.0259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21767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err="1"/>
                        <a:t>Agglomerative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0.0712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41731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1773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 l="-6000" r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850F0F-8E22-7D2C-4FD2-6FE26E63D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4F198B17-3DB1-EAE3-BA44-9CDF572FC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547" y="209633"/>
            <a:ext cx="7796236" cy="1143000"/>
          </a:xfrm>
          <a:solidFill>
            <a:schemeClr val="tx2"/>
          </a:solidFill>
        </p:spPr>
        <p:txBody>
          <a:bodyPr/>
          <a:lstStyle/>
          <a:p>
            <a:r>
              <a:rPr lang="fr-FR">
                <a:solidFill>
                  <a:srgbClr val="FFFFFF"/>
                </a:solidFill>
              </a:rPr>
              <a:t>Modèle évolué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E48D339-9367-F521-A676-408132A2F19B}"/>
              </a:ext>
            </a:extLst>
          </p:cNvPr>
          <p:cNvSpPr txBox="1"/>
          <p:nvPr/>
        </p:nvSpPr>
        <p:spPr>
          <a:xfrm>
            <a:off x="1072577" y="1755126"/>
            <a:ext cx="4780015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fr-FR">
                <a:solidFill>
                  <a:srgbClr val="FFFFFF"/>
                </a:solidFill>
                <a:latin typeface="Arial"/>
                <a:cs typeface="Arial"/>
              </a:rPr>
              <a:t>Pseudo </a:t>
            </a:r>
            <a:r>
              <a:rPr lang="fr-FR" err="1">
                <a:solidFill>
                  <a:srgbClr val="FFFFFF"/>
                </a:solidFill>
                <a:latin typeface="Arial"/>
                <a:cs typeface="Arial"/>
              </a:rPr>
              <a:t>labeling</a:t>
            </a:r>
            <a:r>
              <a:rPr lang="fr-FR">
                <a:solidFill>
                  <a:srgbClr val="FFFFFF"/>
                </a:solidFill>
                <a:latin typeface="Arial"/>
                <a:cs typeface="Arial"/>
              </a:rPr>
              <a:t> :</a:t>
            </a:r>
            <a:endParaRPr lang="fr-FR">
              <a:solidFill>
                <a:srgbClr val="FFFFFF"/>
              </a:solidFill>
            </a:endParaRPr>
          </a:p>
          <a:p>
            <a:pPr marL="742950" lvl="1" indent="-285750">
              <a:buFont typeface="Courier New"/>
              <a:buChar char="o"/>
            </a:pPr>
            <a:r>
              <a:rPr lang="fr-FR">
                <a:solidFill>
                  <a:srgbClr val="FFFFFF"/>
                </a:solidFill>
                <a:latin typeface="Arial"/>
                <a:cs typeface="Arial"/>
              </a:rPr>
              <a:t>Image non labelisée</a:t>
            </a:r>
          </a:p>
          <a:p>
            <a:pPr marL="285750" indent="-285750">
              <a:buFont typeface="Arial"/>
              <a:buChar char="•"/>
            </a:pPr>
            <a:r>
              <a:rPr lang="fr-FR">
                <a:solidFill>
                  <a:srgbClr val="FFFFFF"/>
                </a:solidFill>
                <a:latin typeface="Arial"/>
                <a:cs typeface="Arial"/>
              </a:rPr>
              <a:t>garde seulement si confiance &gt; 0.9</a:t>
            </a:r>
            <a:endParaRPr lang="fr-FR">
              <a:solidFill>
                <a:srgbClr val="FFFFFF"/>
              </a:solidFill>
            </a:endParaRPr>
          </a:p>
          <a:p>
            <a:pPr marL="285750" indent="-285750">
              <a:buFont typeface="Arial"/>
              <a:buChar char="•"/>
            </a:pPr>
            <a:endParaRPr lang="fr-FR">
              <a:solidFill>
                <a:srgbClr val="FFFFFF"/>
              </a:solidFill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AFAF01C5-2E8B-D242-95D0-437CE1EBE9E9}"/>
              </a:ext>
            </a:extLst>
          </p:cNvPr>
          <p:cNvSpPr txBox="1"/>
          <p:nvPr/>
        </p:nvSpPr>
        <p:spPr>
          <a:xfrm>
            <a:off x="1072578" y="3461502"/>
            <a:ext cx="6359630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>
              <a:solidFill>
                <a:srgbClr val="FFFFFF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err="1">
                <a:solidFill>
                  <a:srgbClr val="FFFFFF"/>
                </a:solidFill>
                <a:latin typeface="Arial"/>
                <a:cs typeface="Arial"/>
              </a:rPr>
              <a:t>Supervisée</a:t>
            </a:r>
            <a:endParaRPr lang="en-US" err="1">
              <a:solidFill>
                <a:srgbClr val="FFFFFF"/>
              </a:solidFill>
            </a:endParaRPr>
          </a:p>
          <a:p>
            <a:pPr marL="285750" indent="-285750">
              <a:buFont typeface="Arial"/>
              <a:buChar char="•"/>
            </a:pPr>
            <a:endParaRPr lang="en-US">
              <a:solidFill>
                <a:srgbClr val="FFFFFF"/>
              </a:solidFill>
              <a:latin typeface="Arial"/>
              <a:cs typeface="Arial"/>
            </a:endParaRPr>
          </a:p>
          <a:p>
            <a:endParaRPr lang="en-US">
              <a:solidFill>
                <a:srgbClr val="FFFFFF"/>
              </a:solidFill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FFFFFF"/>
                </a:solidFill>
                <a:latin typeface="Arial"/>
                <a:cs typeface="Arial"/>
              </a:rPr>
              <a:t>Semi </a:t>
            </a:r>
            <a:r>
              <a:rPr lang="en-US" err="1">
                <a:solidFill>
                  <a:srgbClr val="FFFFFF"/>
                </a:solidFill>
                <a:latin typeface="Arial"/>
                <a:cs typeface="Arial"/>
              </a:rPr>
              <a:t>supervisée</a:t>
            </a:r>
            <a:endParaRPr lang="en-US" err="1">
              <a:solidFill>
                <a:srgbClr val="FFFFFF"/>
              </a:solidFill>
            </a:endParaRPr>
          </a:p>
          <a:p>
            <a:endParaRPr lang="en-US">
              <a:solidFill>
                <a:srgbClr val="FFFFFF"/>
              </a:solidFill>
              <a:latin typeface="Arial"/>
              <a:cs typeface="Arial"/>
            </a:endParaRPr>
          </a:p>
          <a:p>
            <a:endParaRPr lang="en-US">
              <a:solidFill>
                <a:srgbClr val="FFFFFF"/>
              </a:solidFill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FFFFFF"/>
                </a:solidFill>
                <a:latin typeface="Arial"/>
                <a:cs typeface="Arial"/>
              </a:rPr>
              <a:t>Active Learning</a:t>
            </a:r>
            <a:endParaRPr lang="en-US">
              <a:solidFill>
                <a:srgbClr val="FFFFFF"/>
              </a:solidFill>
            </a:endParaRPr>
          </a:p>
          <a:p>
            <a:endParaRPr lang="en-US">
              <a:solidFill>
                <a:srgbClr val="FFFFFF"/>
              </a:solidFill>
            </a:endParaRPr>
          </a:p>
          <a:p>
            <a:pPr algn="ctr"/>
            <a:endParaRPr lang="fr-FR">
              <a:solidFill>
                <a:srgbClr val="FFFFFF"/>
              </a:solidFill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A32FDFC-7805-89AC-1073-F0E80DE28253}"/>
              </a:ext>
            </a:extLst>
          </p:cNvPr>
          <p:cNvSpPr txBox="1"/>
          <p:nvPr/>
        </p:nvSpPr>
        <p:spPr>
          <a:xfrm>
            <a:off x="3456085" y="4544914"/>
            <a:ext cx="45720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FFFFFF"/>
                </a:solidFill>
              </a:rPr>
              <a:t>→ amélioration du dataset via sélection intelligente des exemples incertains</a:t>
            </a:r>
          </a:p>
          <a:p>
            <a:pPr algn="ctr"/>
            <a:endParaRPr lang="fr-FR">
              <a:solidFill>
                <a:srgbClr val="FFFFFF"/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8C8DCAC-6373-0EC7-77EB-DD9C72149096}"/>
              </a:ext>
            </a:extLst>
          </p:cNvPr>
          <p:cNvSpPr txBox="1"/>
          <p:nvPr/>
        </p:nvSpPr>
        <p:spPr>
          <a:xfrm>
            <a:off x="3456085" y="5389976"/>
            <a:ext cx="45720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FFFFFF"/>
                </a:solidFill>
              </a:rPr>
              <a:t>→ exploitation des données non labellisées fiables</a:t>
            </a:r>
          </a:p>
          <a:p>
            <a:pPr algn="ctr"/>
            <a:endParaRPr lang="fr-FR">
              <a:solidFill>
                <a:srgbClr val="FFFFFF"/>
              </a:solidFill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E79D309-6CF5-F6B8-915C-2DDA60FE0C68}"/>
              </a:ext>
            </a:extLst>
          </p:cNvPr>
          <p:cNvSpPr txBox="1"/>
          <p:nvPr/>
        </p:nvSpPr>
        <p:spPr>
          <a:xfrm>
            <a:off x="1072578" y="3233985"/>
            <a:ext cx="6359629" cy="400110"/>
          </a:xfrm>
          <a:prstGeom prst="rect">
            <a:avLst/>
          </a:prstGeom>
          <a:solidFill>
            <a:schemeClr val="tx2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i="0" u="none" strike="noStrike" baseline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 </a:t>
            </a:r>
            <a:r>
              <a:rPr lang="en-US" sz="2000" b="1" i="0" u="none" strike="noStrike" baseline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stratégies</a:t>
            </a:r>
            <a:r>
              <a:rPr lang="en-US" sz="2000" b="0" i="0" u="none" strike="noStrike" baseline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000" b="0" i="0" u="none" strike="noStrike" baseline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appliquées</a:t>
            </a:r>
            <a:r>
              <a:rPr lang="en-US" sz="2000" b="0" i="0" u="none" strike="noStrike" baseline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à </a:t>
            </a:r>
            <a:r>
              <a:rPr lang="en-US" sz="200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l'architecture</a:t>
            </a:r>
            <a:r>
              <a:rPr lang="en-US" sz="2000" b="0" i="0" u="none" strike="noStrike" baseline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de </a:t>
            </a:r>
            <a:r>
              <a:rPr lang="en-US" sz="2000" b="0" i="0" u="none" strike="noStrike" baseline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modèle</a:t>
            </a:r>
            <a:r>
              <a:rPr lang="en-US" sz="2000" b="0" i="0" u="none" strike="noStrike" baseline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:</a:t>
            </a:r>
            <a:endParaRPr lang="fr-FR" sz="2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48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2" grpId="0"/>
      <p:bldP spid="5" grpId="0"/>
      <p:bldP spid="7" grpId="0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 t="-50000" b="-50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C34EB2-E6C8-C431-B901-0DF20557A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4608C09E-F917-9CA7-151B-061CBDBAA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693" y="255288"/>
            <a:ext cx="7520980" cy="833541"/>
          </a:xfrm>
          <a:solidFill>
            <a:schemeClr val="tx1"/>
          </a:solidFill>
        </p:spPr>
        <p:txBody>
          <a:bodyPr/>
          <a:lstStyle/>
          <a:p>
            <a:r>
              <a:rPr lang="fr-FR">
                <a:solidFill>
                  <a:srgbClr val="FFFFFF"/>
                </a:solidFill>
              </a:rPr>
              <a:t>Optimisation du Modèle CNN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1AC00FA-37E6-72FD-2FE2-B1AFD86F4397}"/>
              </a:ext>
            </a:extLst>
          </p:cNvPr>
          <p:cNvSpPr txBox="1"/>
          <p:nvPr/>
        </p:nvSpPr>
        <p:spPr>
          <a:xfrm>
            <a:off x="1765758" y="1995625"/>
            <a:ext cx="4534386" cy="830997"/>
          </a:xfrm>
          <a:prstGeom prst="rect">
            <a:avLst/>
          </a:prstGeom>
          <a:solidFill>
            <a:schemeClr val="tx2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Arial"/>
                <a:cs typeface="Arial"/>
              </a:rPr>
              <a:t>Learning rate = 3</a:t>
            </a:r>
            <a:endParaRPr lang="en-US" sz="1600">
              <a:solidFill>
                <a:srgbClr val="FFFFFF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Arial"/>
                <a:ea typeface="Consolas"/>
                <a:cs typeface="Arial"/>
              </a:rPr>
              <a:t>Batch size = 8</a:t>
            </a:r>
            <a:endParaRPr lang="en-US" sz="1600" b="0">
              <a:solidFill>
                <a:srgbClr val="FFFFFF"/>
              </a:solidFill>
              <a:latin typeface="Arial"/>
              <a:ea typeface="Consolas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Arial"/>
                <a:ea typeface="Consolas"/>
                <a:cs typeface="Arial"/>
              </a:rPr>
              <a:t>Weight decay = 1e-4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9266A56D-8503-B9E4-C635-9234EBAB88FD}"/>
              </a:ext>
            </a:extLst>
          </p:cNvPr>
          <p:cNvSpPr txBox="1"/>
          <p:nvPr/>
        </p:nvSpPr>
        <p:spPr>
          <a:xfrm>
            <a:off x="281482" y="3703889"/>
            <a:ext cx="148427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FFFFFF"/>
                </a:solidFill>
                <a:latin typeface="Arial"/>
                <a:cs typeface="Arial"/>
              </a:rPr>
              <a:t>SSL</a:t>
            </a:r>
            <a:endParaRPr lang="fr-FR" b="1">
              <a:solidFill>
                <a:srgbClr val="FFFFFF"/>
              </a:solidFill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957A7091-CD00-E8F4-95EF-FBC0315E4921}"/>
              </a:ext>
            </a:extLst>
          </p:cNvPr>
          <p:cNvSpPr txBox="1"/>
          <p:nvPr/>
        </p:nvSpPr>
        <p:spPr>
          <a:xfrm>
            <a:off x="313831" y="5244022"/>
            <a:ext cx="148427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FFFFFF"/>
                </a:solidFill>
                <a:latin typeface="Arial"/>
                <a:cs typeface="Arial"/>
              </a:rPr>
              <a:t>AL</a:t>
            </a:r>
            <a:endParaRPr lang="fr-FR" b="1">
              <a:solidFill>
                <a:srgbClr val="FFFFFF"/>
              </a:solidFill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EB4F0C09-CA05-5A72-98D6-93D958C42B8C}"/>
              </a:ext>
            </a:extLst>
          </p:cNvPr>
          <p:cNvSpPr txBox="1"/>
          <p:nvPr/>
        </p:nvSpPr>
        <p:spPr>
          <a:xfrm>
            <a:off x="281482" y="1995624"/>
            <a:ext cx="148427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err="1">
                <a:solidFill>
                  <a:srgbClr val="FFFFFF"/>
                </a:solidFill>
                <a:latin typeface="Arial"/>
                <a:cs typeface="Arial"/>
              </a:rPr>
              <a:t>Supervisé</a:t>
            </a:r>
            <a:endParaRPr lang="fr-FR" b="1" err="1">
              <a:solidFill>
                <a:srgbClr val="FFFFFF"/>
              </a:solidFill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C8A4FC28-DCE8-B0A8-3B03-C968108FF280}"/>
              </a:ext>
            </a:extLst>
          </p:cNvPr>
          <p:cNvSpPr txBox="1"/>
          <p:nvPr/>
        </p:nvSpPr>
        <p:spPr>
          <a:xfrm>
            <a:off x="1765756" y="3703890"/>
            <a:ext cx="4536840" cy="584775"/>
          </a:xfrm>
          <a:prstGeom prst="rect">
            <a:avLst/>
          </a:prstGeom>
          <a:solidFill>
            <a:schemeClr val="tx2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Arial"/>
                <a:cs typeface="Arial"/>
              </a:rPr>
              <a:t>Threshold = 0.9</a:t>
            </a:r>
            <a:endParaRPr lang="en-US" sz="1600">
              <a:solidFill>
                <a:srgbClr val="FFFFFF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1600" err="1">
                <a:solidFill>
                  <a:srgbClr val="FFFFFF"/>
                </a:solidFill>
                <a:latin typeface="Arial"/>
                <a:ea typeface="Consolas"/>
                <a:cs typeface="Arial"/>
              </a:rPr>
              <a:t>Poids</a:t>
            </a:r>
            <a:r>
              <a:rPr lang="en-US" sz="1600">
                <a:solidFill>
                  <a:srgbClr val="FFFFFF"/>
                </a:solidFill>
                <a:latin typeface="Arial"/>
                <a:ea typeface="Consolas"/>
                <a:cs typeface="Arial"/>
              </a:rPr>
              <a:t> pseudo label = 0.3</a:t>
            </a:r>
            <a:endParaRPr lang="en-US" sz="1600" b="0">
              <a:solidFill>
                <a:srgbClr val="FFFFFF"/>
              </a:solidFill>
              <a:latin typeface="Arial"/>
              <a:ea typeface="Consolas"/>
              <a:cs typeface="Arial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F4CB00EF-9A6A-2443-C2BF-34E311F4E4C1}"/>
              </a:ext>
            </a:extLst>
          </p:cNvPr>
          <p:cNvSpPr txBox="1"/>
          <p:nvPr/>
        </p:nvSpPr>
        <p:spPr>
          <a:xfrm>
            <a:off x="1765553" y="5244022"/>
            <a:ext cx="4536840" cy="830997"/>
          </a:xfrm>
          <a:prstGeom prst="rect">
            <a:avLst/>
          </a:prstGeom>
          <a:solidFill>
            <a:schemeClr val="tx2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 err="1">
                <a:solidFill>
                  <a:srgbClr val="FFFFFF"/>
                </a:solidFill>
                <a:latin typeface="Arial"/>
                <a:ea typeface="Consolas"/>
                <a:cs typeface="Arial"/>
              </a:rPr>
              <a:t>k_ratio</a:t>
            </a:r>
            <a:r>
              <a:rPr lang="en-US" sz="1600">
                <a:solidFill>
                  <a:srgbClr val="FFFFFF"/>
                </a:solidFill>
                <a:latin typeface="Arial"/>
                <a:ea typeface="Consolas"/>
                <a:cs typeface="Arial"/>
              </a:rPr>
              <a:t> = 0.3</a:t>
            </a:r>
            <a:endParaRPr lang="fr-FR">
              <a:solidFill>
                <a:srgbClr val="FFFFFF"/>
              </a:solidFill>
              <a:latin typeface="Arial"/>
              <a:ea typeface="Consolas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Arial"/>
                <a:ea typeface="Consolas"/>
                <a:cs typeface="Arial"/>
              </a:rPr>
              <a:t>Nombre </a:t>
            </a:r>
            <a:r>
              <a:rPr lang="en-US" sz="1600" err="1">
                <a:solidFill>
                  <a:srgbClr val="FFFFFF"/>
                </a:solidFill>
                <a:latin typeface="Arial"/>
                <a:ea typeface="Consolas"/>
                <a:cs typeface="Arial"/>
              </a:rPr>
              <a:t>d'itération</a:t>
            </a:r>
            <a:r>
              <a:rPr lang="en-US" sz="1600">
                <a:solidFill>
                  <a:srgbClr val="FFFFFF"/>
                </a:solidFill>
                <a:latin typeface="Arial"/>
                <a:ea typeface="Consolas"/>
                <a:cs typeface="Arial"/>
              </a:rPr>
              <a:t> = 3</a:t>
            </a:r>
            <a:endParaRPr lang="en-US" sz="1600" b="0">
              <a:solidFill>
                <a:srgbClr val="FFFFFF"/>
              </a:solidFill>
              <a:latin typeface="Arial"/>
              <a:ea typeface="Consolas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solidFill>
                  <a:srgbClr val="FFFFFF"/>
                </a:solidFill>
                <a:latin typeface="Arial"/>
                <a:ea typeface="Consolas"/>
                <a:cs typeface="Arial"/>
              </a:rPr>
              <a:t>Batch size = </a:t>
            </a:r>
            <a:endParaRPr lang="en-US" sz="1600" b="0">
              <a:solidFill>
                <a:srgbClr val="FFFFFF"/>
              </a:solidFill>
              <a:latin typeface="Arial"/>
              <a:ea typeface="Consolas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33775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8" grpId="0"/>
      <p:bldP spid="9" grpId="0"/>
      <p:bldP spid="10" grpId="0"/>
      <p:bldP spid="12" grpId="0" animBg="1"/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 t="-68000" b="-68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F38152-FEC5-C554-4319-A403C53D5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A42A5E7F-DE14-F685-AE12-A8FAF295F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8205" y="3785"/>
            <a:ext cx="3516758" cy="1175502"/>
          </a:xfrm>
          <a:solidFill>
            <a:schemeClr val="tx2"/>
          </a:solidFill>
        </p:spPr>
        <p:txBody>
          <a:bodyPr/>
          <a:lstStyle/>
          <a:p>
            <a:r>
              <a:rPr lang="fr-FR">
                <a:solidFill>
                  <a:srgbClr val="FFFFFF"/>
                </a:solidFill>
              </a:rPr>
              <a:t>Comparatif</a:t>
            </a:r>
          </a:p>
        </p:txBody>
      </p:sp>
      <p:graphicFrame>
        <p:nvGraphicFramePr>
          <p:cNvPr id="8" name="Espace réservé du contenu 4">
            <a:extLst>
              <a:ext uri="{FF2B5EF4-FFF2-40B4-BE49-F238E27FC236}">
                <a16:creationId xmlns:a16="http://schemas.microsoft.com/office/drawing/2014/main" id="{A4272871-2077-FC34-2F69-0C475A3F8E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9609306"/>
              </p:ext>
            </p:extLst>
          </p:nvPr>
        </p:nvGraphicFramePr>
        <p:xfrm>
          <a:off x="1082842" y="2249905"/>
          <a:ext cx="6757490" cy="3659763"/>
        </p:xfrm>
        <a:graphic>
          <a:graphicData uri="http://schemas.openxmlformats.org/drawingml/2006/table">
            <a:tbl>
              <a:tblPr bandRow="1">
                <a:tableStyleId>{18603FDC-E32A-4AB5-989C-0864C3EAD2B8}</a:tableStyleId>
              </a:tblPr>
              <a:tblGrid>
                <a:gridCol w="1351498">
                  <a:extLst>
                    <a:ext uri="{9D8B030D-6E8A-4147-A177-3AD203B41FA5}">
                      <a16:colId xmlns:a16="http://schemas.microsoft.com/office/drawing/2014/main" val="3134608350"/>
                    </a:ext>
                  </a:extLst>
                </a:gridCol>
                <a:gridCol w="1351498">
                  <a:extLst>
                    <a:ext uri="{9D8B030D-6E8A-4147-A177-3AD203B41FA5}">
                      <a16:colId xmlns:a16="http://schemas.microsoft.com/office/drawing/2014/main" val="3264692889"/>
                    </a:ext>
                  </a:extLst>
                </a:gridCol>
                <a:gridCol w="1351498">
                  <a:extLst>
                    <a:ext uri="{9D8B030D-6E8A-4147-A177-3AD203B41FA5}">
                      <a16:colId xmlns:a16="http://schemas.microsoft.com/office/drawing/2014/main" val="710449142"/>
                    </a:ext>
                  </a:extLst>
                </a:gridCol>
                <a:gridCol w="1351498">
                  <a:extLst>
                    <a:ext uri="{9D8B030D-6E8A-4147-A177-3AD203B41FA5}">
                      <a16:colId xmlns:a16="http://schemas.microsoft.com/office/drawing/2014/main" val="3488963623"/>
                    </a:ext>
                  </a:extLst>
                </a:gridCol>
                <a:gridCol w="1351498">
                  <a:extLst>
                    <a:ext uri="{9D8B030D-6E8A-4147-A177-3AD203B41FA5}">
                      <a16:colId xmlns:a16="http://schemas.microsoft.com/office/drawing/2014/main" val="994297926"/>
                    </a:ext>
                  </a:extLst>
                </a:gridCol>
              </a:tblGrid>
              <a:tr h="3690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/>
                        <a:t>Méthode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400" err="1"/>
                        <a:t>Accuracy</a:t>
                      </a:r>
                      <a:endParaRPr lang="fr-FR" err="1"/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400"/>
                        <a:t>F1 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400" b="1" err="1">
                          <a:solidFill>
                            <a:srgbClr val="92D050"/>
                          </a:solidFill>
                        </a:rPr>
                        <a:t>Recall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400"/>
                        <a:t>Auc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2772476"/>
                  </a:ext>
                </a:extLst>
              </a:tr>
              <a:tr h="10969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err="1"/>
                        <a:t>Supervised</a:t>
                      </a:r>
                      <a:endParaRPr lang="fr-FR" sz="1400" dirty="0" err="1"/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b="0" i="0" u="none" strike="noStrike" noProof="0">
                          <a:latin typeface="Arial"/>
                          <a:cs typeface="Arial"/>
                        </a:rPr>
                        <a:t>0.960</a:t>
                      </a:r>
                      <a:endParaRPr lang="fr-FR"/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b="0" i="0" u="none" strike="noStrike" noProof="0">
                          <a:latin typeface="Arial"/>
                          <a:cs typeface="Arial"/>
                        </a:rPr>
                        <a:t>0.958</a:t>
                      </a:r>
                      <a:endParaRPr lang="fr-FR"/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b="1" i="0" u="none" strike="noStrike" noProof="0">
                          <a:solidFill>
                            <a:srgbClr val="92D050"/>
                          </a:solidFill>
                          <a:latin typeface="Arial"/>
                          <a:cs typeface="Arial"/>
                        </a:rPr>
                        <a:t>0.940</a:t>
                      </a:r>
                      <a:endParaRPr lang="fr-FR" b="1">
                        <a:solidFill>
                          <a:srgbClr val="92D050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b="0" i="0" u="none" strike="noStrike" noProof="0">
                          <a:latin typeface="Arial"/>
                          <a:cs typeface="Arial"/>
                        </a:rPr>
                        <a:t>0.996</a:t>
                      </a:r>
                      <a:endParaRPr lang="fr-FR"/>
                    </a:p>
                    <a:p>
                      <a:pPr lvl="0">
                        <a:buNone/>
                      </a:pPr>
                      <a:endParaRPr lang="fr-FR" sz="1400"/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9423956"/>
                  </a:ext>
                </a:extLst>
              </a:tr>
              <a:tr h="10969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dirty="0"/>
                        <a:t>Semi-</a:t>
                      </a:r>
                      <a:r>
                        <a:rPr lang="fr-FR" sz="1400" dirty="0" err="1"/>
                        <a:t>supervised</a:t>
                      </a:r>
                      <a:r>
                        <a:rPr lang="fr-FR" sz="1400" dirty="0"/>
                        <a:t> (SSL)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b="0" i="0" u="none" strike="noStrike" noProof="0">
                          <a:latin typeface="Arial"/>
                          <a:cs typeface="Arial"/>
                        </a:rPr>
                        <a:t>0.950</a:t>
                      </a:r>
                      <a:endParaRPr lang="fr-FR"/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b="0" i="0" u="none" strike="noStrike" noProof="0">
                          <a:latin typeface="Arial"/>
                          <a:cs typeface="Arial"/>
                        </a:rPr>
                        <a:t>0.947</a:t>
                      </a:r>
                      <a:endParaRPr lang="fr-FR"/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b="1" i="0" u="none" strike="noStrike" noProof="0">
                          <a:solidFill>
                            <a:srgbClr val="92D050"/>
                          </a:solidFill>
                          <a:latin typeface="Arial"/>
                          <a:cs typeface="Arial"/>
                        </a:rPr>
                        <a:t>0.96</a:t>
                      </a:r>
                      <a:endParaRPr lang="fr-FR" b="1">
                        <a:solidFill>
                          <a:srgbClr val="92D050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b="0" i="0" u="none" strike="noStrike" noProof="0">
                          <a:latin typeface="Arial"/>
                          <a:cs typeface="Arial"/>
                        </a:rPr>
                        <a:t>0.990</a:t>
                      </a:r>
                      <a:endParaRPr lang="fr-FR"/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6172290"/>
                  </a:ext>
                </a:extLst>
              </a:tr>
              <a:tr h="10969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/>
                        <a:t>Active Learning (AL)</a:t>
                      </a: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400"/>
                        <a:t>1.0</a:t>
                      </a:r>
                      <a:endParaRPr lang="fr-FR"/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400"/>
                        <a:t>1.0</a:t>
                      </a:r>
                      <a:endParaRPr lang="fr-FR"/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400" b="1">
                          <a:solidFill>
                            <a:srgbClr val="92D050"/>
                          </a:solidFill>
                        </a:rPr>
                        <a:t>1.0</a:t>
                      </a:r>
                      <a:endParaRPr lang="fr-FR" b="1">
                        <a:solidFill>
                          <a:srgbClr val="92D050"/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FR" sz="1400"/>
                        <a:t>1.0</a:t>
                      </a:r>
                      <a:endParaRPr lang="fr-FR"/>
                    </a:p>
                  </a:txBody>
                  <a:tcPr anchor="ctr">
                    <a:lnL w="12700">
                      <a:solidFill>
                        <a:schemeClr val="bg1"/>
                      </a:solidFill>
                    </a:lnL>
                    <a:lnR w="12700">
                      <a:solidFill>
                        <a:schemeClr val="bg1"/>
                      </a:solidFill>
                    </a:lnR>
                    <a:lnT w="12700">
                      <a:solidFill>
                        <a:schemeClr val="bg1"/>
                      </a:solidFill>
                    </a:lnT>
                    <a:lnB w="12700">
                      <a:solidFill>
                        <a:schemeClr val="bg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17911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1068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 l="-17000" r="-17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626073-A3EE-BCD9-19C2-A6668C6A9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8481AE21-D440-BF6E-1695-D0EA8A104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352" y="3785"/>
            <a:ext cx="6333630" cy="1175502"/>
          </a:xfrm>
          <a:solidFill>
            <a:schemeClr val="tx2"/>
          </a:solidFill>
        </p:spPr>
        <p:txBody>
          <a:bodyPr/>
          <a:lstStyle/>
          <a:p>
            <a:r>
              <a:rPr lang="fr-FR">
                <a:solidFill>
                  <a:srgbClr val="FFFFFF"/>
                </a:solidFill>
              </a:rPr>
              <a:t>Analyse des méthodes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953E494-B936-4B6F-AD36-9AC034A4419B}"/>
              </a:ext>
            </a:extLst>
          </p:cNvPr>
          <p:cNvSpPr txBox="1"/>
          <p:nvPr/>
        </p:nvSpPr>
        <p:spPr>
          <a:xfrm>
            <a:off x="1367512" y="1986878"/>
            <a:ext cx="1982644" cy="369332"/>
          </a:xfrm>
          <a:prstGeom prst="rect">
            <a:avLst/>
          </a:prstGeom>
          <a:solidFill>
            <a:schemeClr val="tx2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err="1">
                <a:solidFill>
                  <a:srgbClr val="FFFFFF"/>
                </a:solidFill>
                <a:latin typeface="Arial"/>
                <a:cs typeface="Arial"/>
              </a:rPr>
              <a:t>Supervisée</a:t>
            </a:r>
            <a:endParaRPr lang="fr-FR" b="1" err="1">
              <a:solidFill>
                <a:srgbClr val="FFFFFF"/>
              </a:solidFill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8FEA123-9026-1074-CF07-9DE26D5E4BA7}"/>
              </a:ext>
            </a:extLst>
          </p:cNvPr>
          <p:cNvSpPr txBox="1"/>
          <p:nvPr/>
        </p:nvSpPr>
        <p:spPr>
          <a:xfrm>
            <a:off x="1367512" y="3893685"/>
            <a:ext cx="1982645" cy="646331"/>
          </a:xfrm>
          <a:prstGeom prst="rect">
            <a:avLst/>
          </a:prstGeom>
          <a:solidFill>
            <a:schemeClr val="tx2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 i="0" u="none" strike="noStrike" baseline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Semi </a:t>
            </a:r>
            <a:r>
              <a:rPr lang="en-US" b="1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Supervisée</a:t>
            </a:r>
            <a:endParaRPr lang="fr-FR" err="1">
              <a:solidFill>
                <a:srgbClr val="FFFFFF"/>
              </a:solidFill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15C2EA2E-4E9A-752C-0EA9-6109875B808C}"/>
              </a:ext>
            </a:extLst>
          </p:cNvPr>
          <p:cNvSpPr txBox="1"/>
          <p:nvPr/>
        </p:nvSpPr>
        <p:spPr>
          <a:xfrm>
            <a:off x="1367512" y="2940282"/>
            <a:ext cx="1982645" cy="369332"/>
          </a:xfrm>
          <a:prstGeom prst="rect">
            <a:avLst/>
          </a:prstGeom>
          <a:solidFill>
            <a:schemeClr val="tx2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 i="0" u="none" strike="noStrike" baseline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Active Learning</a:t>
            </a:r>
            <a:endParaRPr lang="fr-FR">
              <a:solidFill>
                <a:srgbClr val="FFFFFF"/>
              </a:solidFill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AEA2C9D-F57D-A24C-C37A-88E5F87A55B1}"/>
              </a:ext>
            </a:extLst>
          </p:cNvPr>
          <p:cNvSpPr txBox="1"/>
          <p:nvPr/>
        </p:nvSpPr>
        <p:spPr>
          <a:xfrm>
            <a:off x="3491000" y="1986879"/>
            <a:ext cx="4886189" cy="646331"/>
          </a:xfrm>
          <a:prstGeom prst="rect">
            <a:avLst/>
          </a:prstGeom>
          <a:solidFill>
            <a:schemeClr val="tx2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err="1">
                <a:solidFill>
                  <a:srgbClr val="FFFFFF"/>
                </a:solidFill>
                <a:latin typeface="Arial"/>
                <a:cs typeface="Arial"/>
              </a:rPr>
              <a:t>entraînement</a:t>
            </a:r>
            <a:r>
              <a:rPr lang="en-US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err="1">
                <a:solidFill>
                  <a:srgbClr val="FFFFFF"/>
                </a:solidFill>
                <a:latin typeface="Arial"/>
                <a:cs typeface="Arial"/>
              </a:rPr>
              <a:t>uniquement</a:t>
            </a:r>
            <a:r>
              <a:rPr lang="en-US">
                <a:solidFill>
                  <a:srgbClr val="FFFFFF"/>
                </a:solidFill>
                <a:latin typeface="Arial"/>
                <a:cs typeface="Arial"/>
              </a:rPr>
              <a:t> sur données </a:t>
            </a:r>
            <a:r>
              <a:rPr lang="en-US" err="1">
                <a:solidFill>
                  <a:srgbClr val="FFFFFF"/>
                </a:solidFill>
                <a:latin typeface="Arial"/>
                <a:cs typeface="Arial"/>
              </a:rPr>
              <a:t>labellisées</a:t>
            </a:r>
            <a:endParaRPr lang="fr-FR" err="1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3FB6BD3-A920-0A19-6FB8-0E8E696E6893}"/>
              </a:ext>
            </a:extLst>
          </p:cNvPr>
          <p:cNvSpPr txBox="1"/>
          <p:nvPr/>
        </p:nvSpPr>
        <p:spPr>
          <a:xfrm>
            <a:off x="3491000" y="2929448"/>
            <a:ext cx="4572000" cy="923330"/>
          </a:xfrm>
          <a:prstGeom prst="rect">
            <a:avLst/>
          </a:prstGeom>
          <a:solidFill>
            <a:schemeClr val="tx2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err="1">
                <a:solidFill>
                  <a:srgbClr val="FFFFFF"/>
                </a:solidFill>
                <a:latin typeface="Arial"/>
                <a:cs typeface="Arial"/>
              </a:rPr>
              <a:t>prédiction</a:t>
            </a:r>
            <a:r>
              <a:rPr lang="en-US">
                <a:solidFill>
                  <a:srgbClr val="FFFFFF"/>
                </a:solidFill>
                <a:latin typeface="Arial"/>
                <a:cs typeface="Arial"/>
              </a:rPr>
              <a:t> des classes</a:t>
            </a:r>
            <a:endParaRPr lang="fr-FR" err="1">
              <a:solidFill>
                <a:srgbClr val="FFFFFF"/>
              </a:solidFill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FFFFFF"/>
                </a:solidFill>
                <a:latin typeface="Arial"/>
                <a:cs typeface="Arial"/>
              </a:rPr>
              <a:t>conservation des pseudo-labels </a:t>
            </a:r>
            <a:r>
              <a:rPr lang="en-US" err="1">
                <a:solidFill>
                  <a:srgbClr val="FFFFFF"/>
                </a:solidFill>
                <a:latin typeface="Arial"/>
                <a:cs typeface="Arial"/>
              </a:rPr>
              <a:t>uniquement</a:t>
            </a:r>
            <a:r>
              <a:rPr lang="en-US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err="1">
                <a:solidFill>
                  <a:srgbClr val="FFFFFF"/>
                </a:solidFill>
                <a:latin typeface="Arial"/>
                <a:cs typeface="Arial"/>
              </a:rPr>
              <a:t>si</a:t>
            </a:r>
            <a:r>
              <a:rPr lang="en-US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err="1">
                <a:solidFill>
                  <a:srgbClr val="FFFFFF"/>
                </a:solidFill>
                <a:latin typeface="Arial"/>
                <a:cs typeface="Arial"/>
              </a:rPr>
              <a:t>confiance</a:t>
            </a:r>
            <a:r>
              <a:rPr lang="en-US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err="1">
                <a:solidFill>
                  <a:srgbClr val="FFFFFF"/>
                </a:solidFill>
                <a:latin typeface="Arial"/>
                <a:cs typeface="Arial"/>
              </a:rPr>
              <a:t>élevée</a:t>
            </a:r>
            <a:endParaRPr lang="fr-FR" err="1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5B3D5029-920B-465E-FE1A-334A221792D1}"/>
              </a:ext>
            </a:extLst>
          </p:cNvPr>
          <p:cNvSpPr txBox="1"/>
          <p:nvPr/>
        </p:nvSpPr>
        <p:spPr>
          <a:xfrm>
            <a:off x="3491000" y="3937021"/>
            <a:ext cx="4572000" cy="2308324"/>
          </a:xfrm>
          <a:prstGeom prst="rect">
            <a:avLst/>
          </a:prstGeom>
          <a:solidFill>
            <a:schemeClr val="tx2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err="1">
                <a:solidFill>
                  <a:srgbClr val="FFFFFF"/>
                </a:solidFill>
                <a:latin typeface="Arial"/>
                <a:cs typeface="Arial"/>
              </a:rPr>
              <a:t>sélection</a:t>
            </a:r>
            <a:r>
              <a:rPr lang="en-US">
                <a:solidFill>
                  <a:srgbClr val="FFFFFF"/>
                </a:solidFill>
                <a:latin typeface="Arial"/>
                <a:cs typeface="Arial"/>
              </a:rPr>
              <a:t> des </a:t>
            </a:r>
            <a:r>
              <a:rPr lang="en-US" err="1">
                <a:solidFill>
                  <a:srgbClr val="FFFFFF"/>
                </a:solidFill>
                <a:latin typeface="Arial"/>
                <a:cs typeface="Arial"/>
              </a:rPr>
              <a:t>échantillons</a:t>
            </a:r>
            <a:r>
              <a:rPr lang="en-US">
                <a:solidFill>
                  <a:srgbClr val="FFFFFF"/>
                </a:solidFill>
                <a:latin typeface="Arial"/>
                <a:cs typeface="Arial"/>
              </a:rPr>
              <a:t> les plus </a:t>
            </a:r>
            <a:r>
              <a:rPr lang="en-US" err="1">
                <a:solidFill>
                  <a:srgbClr val="FFFFFF"/>
                </a:solidFill>
                <a:latin typeface="Arial"/>
                <a:cs typeface="Arial"/>
              </a:rPr>
              <a:t>incertains</a:t>
            </a:r>
            <a:endParaRPr lang="fr-FR" err="1">
              <a:solidFill>
                <a:srgbClr val="FFFFFF"/>
              </a:solidFill>
              <a:latin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err="1">
                <a:solidFill>
                  <a:srgbClr val="FFFFFF"/>
                </a:solidFill>
                <a:latin typeface="Arial"/>
                <a:cs typeface="Arial"/>
              </a:rPr>
              <a:t>ajout</a:t>
            </a:r>
            <a:r>
              <a:rPr lang="en-US">
                <a:solidFill>
                  <a:srgbClr val="FFFFFF"/>
                </a:solidFill>
                <a:latin typeface="Arial"/>
                <a:cs typeface="Arial"/>
              </a:rPr>
              <a:t> d’un sous-ensemble des données non </a:t>
            </a:r>
            <a:r>
              <a:rPr lang="en-US" err="1">
                <a:solidFill>
                  <a:srgbClr val="FFFFFF"/>
                </a:solidFill>
                <a:latin typeface="Arial"/>
                <a:cs typeface="Arial"/>
              </a:rPr>
              <a:t>labellisées</a:t>
            </a:r>
            <a:r>
              <a:rPr lang="en-US">
                <a:solidFill>
                  <a:srgbClr val="FFFFFF"/>
                </a:solidFill>
                <a:latin typeface="Arial"/>
                <a:cs typeface="Arial"/>
              </a:rPr>
              <a:t> au dataset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FFFFFF"/>
                </a:solidFill>
                <a:latin typeface="Arial"/>
                <a:cs typeface="Arial"/>
              </a:rPr>
              <a:t>re-</a:t>
            </a:r>
            <a:r>
              <a:rPr lang="en-US" err="1">
                <a:solidFill>
                  <a:srgbClr val="FFFFFF"/>
                </a:solidFill>
                <a:latin typeface="Arial"/>
                <a:cs typeface="Arial"/>
              </a:rPr>
              <a:t>labelisation</a:t>
            </a:r>
            <a:r>
              <a:rPr lang="en-US">
                <a:solidFill>
                  <a:srgbClr val="FFFFFF"/>
                </a:solidFill>
                <a:latin typeface="Arial"/>
                <a:cs typeface="Arial"/>
              </a:rPr>
              <a:t> via le </a:t>
            </a:r>
            <a:r>
              <a:rPr lang="en-US" err="1">
                <a:solidFill>
                  <a:srgbClr val="FFFFFF"/>
                </a:solidFill>
                <a:latin typeface="Arial"/>
                <a:cs typeface="Arial"/>
              </a:rPr>
              <a:t>modèle</a:t>
            </a:r>
            <a:r>
              <a:rPr lang="en-US">
                <a:solidFill>
                  <a:srgbClr val="FFFFFF"/>
                </a:solidFill>
                <a:latin typeface="Arial"/>
                <a:cs typeface="Arial"/>
              </a:rPr>
              <a:t> (pseudo-labeling)</a:t>
            </a:r>
          </a:p>
          <a:p>
            <a:pPr marL="285750" indent="-285750">
              <a:buFont typeface="Arial"/>
              <a:buChar char="•"/>
            </a:pPr>
            <a:r>
              <a:rPr lang="en-US" err="1">
                <a:solidFill>
                  <a:srgbClr val="FFFFFF"/>
                </a:solidFill>
                <a:latin typeface="Arial"/>
                <a:cs typeface="Arial"/>
              </a:rPr>
              <a:t>ré-entraînement</a:t>
            </a:r>
            <a:r>
              <a:rPr lang="en-US">
                <a:solidFill>
                  <a:srgbClr val="FFFFFF"/>
                </a:solidFill>
                <a:latin typeface="Arial"/>
                <a:cs typeface="Arial"/>
              </a:rPr>
              <a:t> du </a:t>
            </a:r>
            <a:r>
              <a:rPr lang="en-US" err="1">
                <a:solidFill>
                  <a:srgbClr val="FFFFFF"/>
                </a:solidFill>
                <a:latin typeface="Arial"/>
                <a:cs typeface="Arial"/>
              </a:rPr>
              <a:t>modèle</a:t>
            </a:r>
            <a:r>
              <a:rPr lang="en-US">
                <a:solidFill>
                  <a:srgbClr val="FFFFFF"/>
                </a:solidFill>
                <a:latin typeface="Arial"/>
                <a:cs typeface="Arial"/>
              </a:rPr>
              <a:t> sur dataset </a:t>
            </a:r>
            <a:r>
              <a:rPr lang="en-US" err="1">
                <a:solidFill>
                  <a:srgbClr val="FFFFFF"/>
                </a:solidFill>
                <a:latin typeface="Arial"/>
                <a:cs typeface="Arial"/>
              </a:rPr>
              <a:t>enrichi</a:t>
            </a:r>
            <a:endParaRPr lang="en-US" err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2198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EFBD16-CFEE-CBEF-7C1F-2027C0A4F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77F33056-DD33-8B81-1A87-BB7AE171A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642" y="230189"/>
            <a:ext cx="3846763" cy="979714"/>
          </a:xfrm>
        </p:spPr>
        <p:txBody>
          <a:bodyPr/>
          <a:lstStyle/>
          <a:p>
            <a:r>
              <a:rPr lang="fr-FR"/>
              <a:t>Coûts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5F05E75-8FBE-3834-59DB-DC538133F439}"/>
              </a:ext>
            </a:extLst>
          </p:cNvPr>
          <p:cNvSpPr txBox="1"/>
          <p:nvPr/>
        </p:nvSpPr>
        <p:spPr>
          <a:xfrm>
            <a:off x="2282323" y="1219709"/>
            <a:ext cx="3846113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000" b="1">
                <a:latin typeface="Arial"/>
                <a:cs typeface="Arial"/>
              </a:rPr>
              <a:t>Budgets :</a:t>
            </a:r>
            <a:endParaRPr lang="fr-FR" sz="2000" b="1"/>
          </a:p>
          <a:p>
            <a:r>
              <a:rPr lang="fr-FR" sz="2000" b="1">
                <a:latin typeface="Arial"/>
                <a:cs typeface="Arial"/>
              </a:rPr>
              <a:t>4 millions d’images / 5 000 €</a:t>
            </a:r>
            <a:endParaRPr lang="fr-FR" sz="2000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EBD7B5F9-084F-4223-10AA-3414863607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8137876"/>
              </p:ext>
            </p:extLst>
          </p:nvPr>
        </p:nvGraphicFramePr>
        <p:xfrm>
          <a:off x="0" y="2358189"/>
          <a:ext cx="9144000" cy="4114800"/>
        </p:xfrm>
        <a:graphic>
          <a:graphicData uri="http://schemas.openxmlformats.org/drawingml/2006/table">
            <a:tbl>
              <a:tblPr bandRow="1">
                <a:tableStyleId>{D7AC3CCA-C797-4891-BE02-D94E43425B78}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92985754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81120818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3665741628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119770658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Poste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Coût estimé (€)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Part du budget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Commentaire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17368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Annotation initiale </a:t>
                      </a:r>
                    </a:p>
                    <a:p>
                      <a:pPr lvl="0">
                        <a:buNone/>
                      </a:pPr>
                      <a:r>
                        <a:rPr lang="fr-FR"/>
                        <a:t>(1 000 images)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3 000 €</a:t>
                      </a:r>
                    </a:p>
                    <a:p>
                      <a:pPr lvl="0" algn="r">
                        <a:buNone/>
                      </a:pPr>
                      <a:r>
                        <a:rPr lang="fr-FR"/>
                        <a:t>(base 1=&gt;3€)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60 %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Base supervisée pour entraîner ResNet50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66728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Pseudo-</a:t>
                      </a:r>
                      <a:r>
                        <a:rPr lang="fr-FR" err="1"/>
                        <a:t>labeling</a:t>
                      </a:r>
                      <a:r>
                        <a:rPr lang="fr-FR"/>
                        <a:t> SSL (4M images)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0 €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0 %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Généré automatiquement par le modèle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90253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Entraînement CNN / SSL (GPU)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1 000 €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20 %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Fine-tuning + apprentissage semi-supervisé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05518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Stockage &amp; traitement données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1 000 €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20 %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Stockage massif + pipeline </a:t>
                      </a:r>
                      <a:r>
                        <a:rPr lang="fr-FR" err="1"/>
                        <a:t>inference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22748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5 000 €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fr-FR"/>
                        <a:t>100 %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Respect du budget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225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1749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A0ED4F-81D8-4091-525D-A07BD0F5F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05DEE169-43A1-7D70-DBB4-E652F5C47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3895" y="290347"/>
            <a:ext cx="3846763" cy="979714"/>
          </a:xfrm>
        </p:spPr>
        <p:txBody>
          <a:bodyPr/>
          <a:lstStyle/>
          <a:p>
            <a:r>
              <a:rPr lang="fr-FR">
                <a:ea typeface="+mj-lt"/>
                <a:cs typeface="+mj-lt"/>
              </a:rPr>
              <a:t>Objectif atteint</a:t>
            </a:r>
            <a:endParaRPr lang="fr-FR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D28BE914-91ED-35C2-A3B7-5BB46733F486}"/>
              </a:ext>
            </a:extLst>
          </p:cNvPr>
          <p:cNvSpPr txBox="1"/>
          <p:nvPr/>
        </p:nvSpPr>
        <p:spPr>
          <a:xfrm>
            <a:off x="1769840" y="1719319"/>
            <a:ext cx="705050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latin typeface="Arial"/>
                <a:cs typeface="Arial"/>
              </a:rPr>
              <a:t>Pipeline de </a:t>
            </a:r>
            <a:r>
              <a:rPr lang="en-US" err="1">
                <a:latin typeface="Arial"/>
                <a:cs typeface="Arial"/>
              </a:rPr>
              <a:t>prétraitement</a:t>
            </a:r>
            <a:r>
              <a:rPr lang="en-US">
                <a:latin typeface="Arial"/>
                <a:cs typeface="Arial"/>
              </a:rPr>
              <a:t> et </a:t>
            </a:r>
            <a:r>
              <a:rPr lang="en-US" err="1">
                <a:latin typeface="Arial"/>
                <a:cs typeface="Arial"/>
              </a:rPr>
              <a:t>d’extraction</a:t>
            </a:r>
            <a:r>
              <a:rPr lang="en-US">
                <a:latin typeface="Arial"/>
                <a:cs typeface="Arial"/>
              </a:rPr>
              <a:t> de </a:t>
            </a:r>
            <a:r>
              <a:rPr lang="en-US" err="1">
                <a:latin typeface="Arial"/>
                <a:cs typeface="Arial"/>
              </a:rPr>
              <a:t>caractéristiques</a:t>
            </a:r>
            <a:r>
              <a:rPr lang="en-US">
                <a:latin typeface="Arial"/>
                <a:cs typeface="Arial"/>
              </a:rPr>
              <a:t> </a:t>
            </a:r>
            <a:r>
              <a:rPr lang="en-US" err="1">
                <a:latin typeface="Arial"/>
                <a:cs typeface="Arial"/>
              </a:rPr>
              <a:t>basée</a:t>
            </a:r>
            <a:r>
              <a:rPr lang="en-US">
                <a:latin typeface="Arial"/>
                <a:cs typeface="Arial"/>
              </a:rPr>
              <a:t> sur ResNet50 pré-entraîné. </a:t>
            </a:r>
            <a:endParaRPr lang="en-US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3DA2F81-46C3-D1B3-F358-0BAAB8DF86A1}"/>
              </a:ext>
            </a:extLst>
          </p:cNvPr>
          <p:cNvSpPr txBox="1"/>
          <p:nvPr/>
        </p:nvSpPr>
        <p:spPr>
          <a:xfrm>
            <a:off x="1765962" y="2508100"/>
            <a:ext cx="6847165" cy="155427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l" rtl="0">
              <a:lnSpc>
                <a:spcPts val="1899"/>
              </a:lnSpc>
              <a:buFont typeface="Arial"/>
              <a:buChar char="•"/>
            </a:pPr>
            <a:r>
              <a:rPr lang="en-US" sz="1800" b="0" i="0" u="none" strike="noStrike" baseline="0">
                <a:solidFill>
                  <a:srgbClr val="000000"/>
                </a:solidFill>
                <a:latin typeface="Arial"/>
                <a:cs typeface="Arial"/>
              </a:rPr>
              <a:t>​</a:t>
            </a:r>
            <a:r>
              <a:rPr lang="en-US" sz="1800" b="0" i="0" u="none" strike="noStrike" baseline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Entraînement</a:t>
            </a:r>
            <a:r>
              <a:rPr lang="en-US" sz="18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d’un </a:t>
            </a:r>
            <a:r>
              <a:rPr lang="en-US" sz="1800" b="0" i="0" u="none" strike="noStrike" baseline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modèle</a:t>
            </a:r>
            <a:r>
              <a:rPr lang="en-US" sz="18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CNN pour la classification </a:t>
            </a:r>
            <a:r>
              <a:rPr lang="en-US" sz="1800" b="0" i="0" u="none" strike="noStrike" baseline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supervisée</a:t>
            </a:r>
            <a:r>
              <a:rPr lang="en-US" sz="18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avec </a:t>
            </a:r>
            <a:r>
              <a:rPr lang="en-US" sz="1800" b="0" i="0" u="none" strike="noStrike" baseline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évaluation</a:t>
            </a:r>
            <a:r>
              <a:rPr lang="en-US" sz="18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:</a:t>
            </a:r>
            <a:r>
              <a:rPr lang="en-US" sz="1800" b="0" i="0">
                <a:latin typeface="Arial"/>
                <a:ea typeface="Arial"/>
                <a:cs typeface="Arial"/>
              </a:rPr>
              <a:t>​</a:t>
            </a:r>
            <a:endParaRPr lang="fr-FR"/>
          </a:p>
          <a:p>
            <a:pPr marL="685800" lvl="2" indent="-228600">
              <a:lnSpc>
                <a:spcPts val="1899"/>
              </a:lnSpc>
              <a:buFont typeface="Wingdings"/>
              <a:buChar char="§"/>
            </a:pPr>
            <a:r>
              <a:rPr lang="en-US" sz="18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Accuracy, </a:t>
            </a:r>
            <a:endParaRPr lang="en-US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685800" lvl="2" indent="-228600">
              <a:lnSpc>
                <a:spcPts val="1898"/>
              </a:lnSpc>
              <a:buFont typeface="Wingdings"/>
              <a:buChar char="§"/>
            </a:pPr>
            <a:r>
              <a:rPr lang="en-US" sz="18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F1-score, </a:t>
            </a:r>
            <a:endParaRPr lang="en-US">
              <a:solidFill>
                <a:srgbClr val="000000"/>
              </a:solidFill>
              <a:ea typeface="Arial"/>
            </a:endParaRPr>
          </a:p>
          <a:p>
            <a:pPr marL="685800" lvl="2" indent="-228600">
              <a:lnSpc>
                <a:spcPts val="1898"/>
              </a:lnSpc>
              <a:buFont typeface="Wingdings"/>
              <a:buChar char="§"/>
            </a:pPr>
            <a:r>
              <a:rPr lang="en-US" sz="1800" b="1" i="0" u="none" strike="noStrike" baseline="0">
                <a:solidFill>
                  <a:srgbClr val="FF0000"/>
                </a:solidFill>
                <a:latin typeface="Arial"/>
                <a:ea typeface="Arial"/>
                <a:cs typeface="Arial"/>
              </a:rPr>
              <a:t>Recall</a:t>
            </a:r>
            <a:r>
              <a:rPr lang="en-US" sz="18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endParaRPr lang="en-US">
              <a:solidFill>
                <a:srgbClr val="000000"/>
              </a:solidFill>
              <a:ea typeface="Arial"/>
            </a:endParaRPr>
          </a:p>
          <a:p>
            <a:pPr marL="685800" lvl="2" indent="-228600" algn="l">
              <a:lnSpc>
                <a:spcPts val="1898"/>
              </a:lnSpc>
              <a:buFont typeface="Wingdings"/>
              <a:buChar char="§"/>
            </a:pPr>
            <a:r>
              <a:rPr lang="en-US" sz="18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et AUC. </a:t>
            </a:r>
            <a:r>
              <a:rPr lang="en-US" sz="1800" b="0" i="0">
                <a:latin typeface="Arial"/>
                <a:ea typeface="Arial"/>
                <a:cs typeface="Arial"/>
              </a:rPr>
              <a:t>​</a:t>
            </a:r>
            <a:endParaRPr lang="en-US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21BD8FDF-4075-B9C8-C177-29932749005B}"/>
              </a:ext>
            </a:extLst>
          </p:cNvPr>
          <p:cNvSpPr txBox="1"/>
          <p:nvPr/>
        </p:nvSpPr>
        <p:spPr>
          <a:xfrm>
            <a:off x="1765962" y="4100715"/>
            <a:ext cx="6153781" cy="183127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lnSpc>
                <a:spcPts val="1899"/>
              </a:lnSpc>
            </a:pPr>
            <a:r>
              <a:rPr lang="en-US" sz="1800" b="0" i="0" u="none" strike="noStrike" baseline="0">
                <a:solidFill>
                  <a:srgbClr val="000000"/>
                </a:solidFill>
                <a:latin typeface="Arial"/>
              </a:rPr>
              <a:t>​</a:t>
            </a:r>
          </a:p>
          <a:p>
            <a:pPr marL="228600" lvl="0" indent="-228600" algn="l" rtl="0">
              <a:lnSpc>
                <a:spcPts val="1899"/>
              </a:lnSpc>
              <a:buFont typeface=""/>
              <a:buChar char="•"/>
            </a:pPr>
            <a:r>
              <a:rPr lang="en-US" sz="18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Exploration des solutions:​​</a:t>
            </a:r>
            <a:r>
              <a:rPr lang="en-US" sz="1800" b="0" i="0">
                <a:latin typeface="Arial"/>
                <a:ea typeface="Arial"/>
                <a:cs typeface="Arial"/>
              </a:rPr>
              <a:t>​</a:t>
            </a:r>
          </a:p>
          <a:p>
            <a:pPr marL="685800" lvl="2" indent="-228600" algn="l" rtl="0">
              <a:lnSpc>
                <a:spcPts val="1899"/>
              </a:lnSpc>
              <a:buFont typeface="Wingdings"/>
              <a:buChar char="§"/>
            </a:pPr>
            <a:r>
              <a:rPr lang="en-US" sz="18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Clustering​​</a:t>
            </a:r>
            <a:r>
              <a:rPr lang="en-US" sz="1800" b="0" i="0">
                <a:latin typeface="Arial"/>
                <a:ea typeface="Arial"/>
                <a:cs typeface="Arial"/>
              </a:rPr>
              <a:t>​</a:t>
            </a:r>
          </a:p>
          <a:p>
            <a:pPr marL="685800" lvl="2" indent="-228600" algn="l" rtl="0">
              <a:lnSpc>
                <a:spcPts val="1899"/>
              </a:lnSpc>
              <a:buFont typeface="Wingdings"/>
              <a:buChar char="§"/>
            </a:pPr>
            <a:r>
              <a:rPr lang="en-US" sz="18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Semi-</a:t>
            </a:r>
            <a:r>
              <a:rPr lang="en-US" sz="1800" b="0" i="0" u="none" strike="noStrike" baseline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supervisées</a:t>
            </a:r>
            <a:r>
              <a:rPr lang="en-US" sz="18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(pseudo-labeling) ​​</a:t>
            </a:r>
            <a:r>
              <a:rPr lang="en-US" sz="1800" b="0" i="0">
                <a:latin typeface="Arial"/>
                <a:ea typeface="Arial"/>
                <a:cs typeface="Arial"/>
              </a:rPr>
              <a:t>​</a:t>
            </a:r>
          </a:p>
          <a:p>
            <a:pPr marL="685800" lvl="2" indent="-228600" algn="l" rtl="0">
              <a:lnSpc>
                <a:spcPts val="1899"/>
              </a:lnSpc>
              <a:buFont typeface="Wingdings"/>
              <a:buChar char="§"/>
            </a:pPr>
            <a:r>
              <a:rPr lang="en-US" sz="18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Active learning pour </a:t>
            </a:r>
            <a:r>
              <a:rPr lang="en-US" sz="1800" b="0" i="0" u="none" strike="noStrike" baseline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réduire</a:t>
            </a:r>
            <a:r>
              <a:rPr lang="en-US" sz="18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le </a:t>
            </a:r>
            <a:r>
              <a:rPr lang="en-US" sz="1800" b="0" i="0" u="none" strike="noStrike" baseline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besoin</a:t>
            </a:r>
            <a:r>
              <a:rPr lang="en-US" sz="18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800" b="0" i="0" u="none" strike="noStrike" baseline="0" err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en</a:t>
            </a:r>
            <a:r>
              <a:rPr lang="en-US" sz="18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annotations.</a:t>
            </a:r>
          </a:p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8581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/>
      <p:bldP spid="4" grpId="0"/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 t="-50000" b="-50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D17FFB-CC2E-EDE5-8C01-F65B2686E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07AC0E34-6AF8-03E3-E469-753AD92EE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883" y="36287"/>
            <a:ext cx="7796236" cy="1143000"/>
          </a:xfrm>
        </p:spPr>
        <p:txBody>
          <a:bodyPr/>
          <a:lstStyle/>
          <a:p>
            <a:r>
              <a:rPr lang="fr-FR"/>
              <a:t>Possibilité</a:t>
            </a:r>
          </a:p>
        </p:txBody>
      </p:sp>
      <p:pic>
        <p:nvPicPr>
          <p:cNvPr id="5" name="Image 4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35B08288-3F7E-3ED5-937D-A6F0A60DF8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7232" y="0"/>
            <a:ext cx="2333365" cy="6858000"/>
          </a:xfrm>
          <a:prstGeom prst="rect">
            <a:avLst/>
          </a:prstGeom>
        </p:spPr>
      </p:pic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454FC88A-A12B-961C-1544-97044CCC86F3}"/>
              </a:ext>
            </a:extLst>
          </p:cNvPr>
          <p:cNvCxnSpPr/>
          <p:nvPr/>
        </p:nvCxnSpPr>
        <p:spPr>
          <a:xfrm flipV="1">
            <a:off x="4398653" y="3033554"/>
            <a:ext cx="2968550" cy="10834"/>
          </a:xfrm>
          <a:prstGeom prst="straightConnector1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094DCF60-562D-553B-B4A3-F2DBEF9B61EC}"/>
              </a:ext>
            </a:extLst>
          </p:cNvPr>
          <p:cNvCxnSpPr>
            <a:cxnSpLocks/>
          </p:cNvCxnSpPr>
          <p:nvPr/>
        </p:nvCxnSpPr>
        <p:spPr>
          <a:xfrm flipV="1">
            <a:off x="4398652" y="1765961"/>
            <a:ext cx="2968550" cy="10834"/>
          </a:xfrm>
          <a:prstGeom prst="straightConnector1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CAADCFA4-08E4-EFB8-6119-646E87B606FC}"/>
              </a:ext>
            </a:extLst>
          </p:cNvPr>
          <p:cNvCxnSpPr>
            <a:cxnSpLocks/>
          </p:cNvCxnSpPr>
          <p:nvPr/>
        </p:nvCxnSpPr>
        <p:spPr>
          <a:xfrm flipV="1">
            <a:off x="4398653" y="4236141"/>
            <a:ext cx="2968550" cy="10834"/>
          </a:xfrm>
          <a:prstGeom prst="straightConnector1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E597D525-C894-E75E-1E6E-DA52DF6AC1D5}"/>
              </a:ext>
            </a:extLst>
          </p:cNvPr>
          <p:cNvCxnSpPr>
            <a:cxnSpLocks/>
          </p:cNvCxnSpPr>
          <p:nvPr/>
        </p:nvCxnSpPr>
        <p:spPr>
          <a:xfrm flipV="1">
            <a:off x="4398652" y="6197117"/>
            <a:ext cx="3315241" cy="0"/>
          </a:xfrm>
          <a:prstGeom prst="straightConnector1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6" name="ZoneTexte 15">
            <a:extLst>
              <a:ext uri="{FF2B5EF4-FFF2-40B4-BE49-F238E27FC236}">
                <a16:creationId xmlns:a16="http://schemas.microsoft.com/office/drawing/2014/main" id="{1120E282-EF1B-CD36-61C0-5CC4B47714C4}"/>
              </a:ext>
            </a:extLst>
          </p:cNvPr>
          <p:cNvSpPr txBox="1"/>
          <p:nvPr/>
        </p:nvSpPr>
        <p:spPr>
          <a:xfrm>
            <a:off x="3575261" y="2134322"/>
            <a:ext cx="27432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>
                <a:latin typeface="Arial"/>
                <a:cs typeface="Arial"/>
              </a:rPr>
              <a:t>Sans intervention Humaine pour la majorité</a:t>
            </a:r>
            <a:endParaRPr lang="fr-FR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31335F34-D4BF-BF87-E601-8784B47A8B8A}"/>
              </a:ext>
            </a:extLst>
          </p:cNvPr>
          <p:cNvSpPr txBox="1"/>
          <p:nvPr/>
        </p:nvSpPr>
        <p:spPr>
          <a:xfrm>
            <a:off x="3575261" y="3418166"/>
            <a:ext cx="4572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>
                <a:solidFill>
                  <a:srgbClr val="000000"/>
                </a:solidFill>
                <a:latin typeface="Arial"/>
                <a:cs typeface="Arial"/>
              </a:rPr>
              <a:t>Validation d'un professionnel </a:t>
            </a:r>
            <a:endParaRPr lang="fr-FR">
              <a:solidFill>
                <a:srgbClr val="000000"/>
              </a:solidFill>
            </a:endParaRPr>
          </a:p>
          <a:p>
            <a:r>
              <a:rPr lang="fr-FR">
                <a:solidFill>
                  <a:srgbClr val="000000"/>
                </a:solidFill>
                <a:latin typeface="Arial"/>
                <a:cs typeface="Arial"/>
              </a:rPr>
              <a:t>de Santé pour les incertains</a:t>
            </a:r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07B70FD3-FDEC-3DA2-D960-BACE91FC52FA}"/>
              </a:ext>
            </a:extLst>
          </p:cNvPr>
          <p:cNvSpPr txBox="1"/>
          <p:nvPr/>
        </p:nvSpPr>
        <p:spPr>
          <a:xfrm>
            <a:off x="3575261" y="5064952"/>
            <a:ext cx="322856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>
                <a:solidFill>
                  <a:srgbClr val="000000"/>
                </a:solidFill>
                <a:latin typeface="Arial"/>
                <a:cs typeface="Arial"/>
              </a:rPr>
              <a:t>Augmentation de la fiabilité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1889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6" grpId="0"/>
      <p:bldP spid="17" grpId="0"/>
      <p:bldP spid="1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0C343A-9C6A-397E-9D76-09ABD0747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78EE074B-DC4B-8064-A773-588B6B000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883" y="36287"/>
            <a:ext cx="7796236" cy="1143000"/>
          </a:xfrm>
        </p:spPr>
        <p:txBody>
          <a:bodyPr/>
          <a:lstStyle/>
          <a:p>
            <a:r>
              <a:rPr lang="fr-FR"/>
              <a:t>Conclusion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833F51E8-2757-A29A-FE13-CB0A3DE7A1D5}"/>
              </a:ext>
            </a:extLst>
          </p:cNvPr>
          <p:cNvSpPr txBox="1"/>
          <p:nvPr/>
        </p:nvSpPr>
        <p:spPr>
          <a:xfrm>
            <a:off x="1830966" y="1711791"/>
            <a:ext cx="420315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000" b="1">
                <a:latin typeface="Arial"/>
                <a:cs typeface="Arial"/>
              </a:rPr>
              <a:t>Faisabilité et Fiabilité relative :</a:t>
            </a:r>
            <a:endParaRPr lang="fr-FR" sz="2000" b="1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BA696C9-AABD-6903-9AF6-833211FA9F71}"/>
              </a:ext>
            </a:extLst>
          </p:cNvPr>
          <p:cNvSpPr txBox="1"/>
          <p:nvPr/>
        </p:nvSpPr>
        <p:spPr>
          <a:xfrm>
            <a:off x="2285999" y="2275166"/>
            <a:ext cx="5473398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fr-FR">
                <a:latin typeface="Arial"/>
                <a:cs typeface="Arial"/>
              </a:rPr>
              <a:t>Peu de label</a:t>
            </a:r>
            <a:endParaRPr lang="fr-FR"/>
          </a:p>
          <a:p>
            <a:pPr marL="285750" indent="-285750">
              <a:buFont typeface="Arial"/>
              <a:buChar char="•"/>
            </a:pPr>
            <a:r>
              <a:rPr lang="fr-FR">
                <a:latin typeface="Arial"/>
                <a:cs typeface="Arial"/>
              </a:rPr>
              <a:t>Semi supervisé pour réduire les coûts</a:t>
            </a:r>
          </a:p>
          <a:p>
            <a:pPr marL="285750" indent="-285750">
              <a:buFont typeface="Arial"/>
              <a:buChar char="•"/>
            </a:pPr>
            <a:r>
              <a:rPr lang="fr-FR">
                <a:latin typeface="Arial"/>
                <a:cs typeface="Arial"/>
              </a:rPr>
              <a:t>Non prise en compte de la partie HDS</a:t>
            </a:r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F07BB44-B677-F058-8837-4D44C8187CA9}"/>
              </a:ext>
            </a:extLst>
          </p:cNvPr>
          <p:cNvSpPr txBox="1"/>
          <p:nvPr/>
        </p:nvSpPr>
        <p:spPr>
          <a:xfrm>
            <a:off x="1830965" y="3900283"/>
            <a:ext cx="36641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000" b="1">
                <a:latin typeface="Arial"/>
                <a:cs typeface="Arial"/>
              </a:rPr>
              <a:t>Possibilité :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87A1131-64A2-A81E-3D6E-FB8B188F69FE}"/>
              </a:ext>
            </a:extLst>
          </p:cNvPr>
          <p:cNvSpPr txBox="1"/>
          <p:nvPr/>
        </p:nvSpPr>
        <p:spPr>
          <a:xfrm>
            <a:off x="2285998" y="4398654"/>
            <a:ext cx="5473398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fr-FR">
                <a:latin typeface="Arial"/>
                <a:cs typeface="Arial"/>
              </a:rPr>
              <a:t>Combinaison de méthode</a:t>
            </a:r>
          </a:p>
          <a:p>
            <a:pPr marL="285750" indent="-285750">
              <a:buFont typeface="Arial"/>
              <a:buChar char="•"/>
            </a:pPr>
            <a:r>
              <a:rPr lang="fr-FR">
                <a:latin typeface="Arial"/>
                <a:cs typeface="Arial"/>
              </a:rPr>
              <a:t>Partenariat</a:t>
            </a:r>
            <a:endParaRPr lang="fr-FR"/>
          </a:p>
          <a:p>
            <a:pPr marL="285750" indent="-285750">
              <a:buFont typeface="Arial"/>
              <a:buChar char="•"/>
            </a:pPr>
            <a:r>
              <a:rPr lang="fr-FR">
                <a:latin typeface="Arial"/>
                <a:cs typeface="Arial"/>
              </a:rPr>
              <a:t>Incubation du projet</a:t>
            </a:r>
          </a:p>
          <a:p>
            <a:pPr marL="742950" lvl="1" indent="-285750">
              <a:buFont typeface="Courier New"/>
              <a:buChar char="o"/>
            </a:pPr>
            <a:r>
              <a:rPr lang="fr-FR">
                <a:latin typeface="Arial"/>
                <a:cs typeface="Arial"/>
              </a:rPr>
              <a:t>Hébergement chez le client</a:t>
            </a:r>
            <a:endParaRPr lang="fr-FR"/>
          </a:p>
          <a:p>
            <a:pPr marL="742950" lvl="1" indent="-285750">
              <a:buFont typeface="Courier New"/>
              <a:buChar char="o"/>
            </a:pPr>
            <a:r>
              <a:rPr lang="fr-FR">
                <a:latin typeface="Arial"/>
                <a:cs typeface="Arial"/>
              </a:rPr>
              <a:t>Réduction des coûts des experts</a:t>
            </a:r>
          </a:p>
          <a:p>
            <a:pPr marL="285750" indent="-285750">
              <a:buFont typeface="Arial"/>
              <a:buChar char="•"/>
            </a:pPr>
            <a:r>
              <a:rPr lang="fr-FR">
                <a:latin typeface="Arial"/>
                <a:cs typeface="Arial"/>
              </a:rPr>
              <a:t>Augmentation de la fiabilité</a:t>
            </a:r>
          </a:p>
        </p:txBody>
      </p:sp>
    </p:spTree>
    <p:extLst>
      <p:ext uri="{BB962C8B-B14F-4D97-AF65-F5344CB8AC3E}">
        <p14:creationId xmlns:p14="http://schemas.microsoft.com/office/powerpoint/2010/main" val="2429337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/>
      <p:bldP spid="4" grpId="0"/>
      <p:bldP spid="5" grpId="0"/>
      <p:bldP spid="6" grpId="0"/>
    </p:bldLst>
  </p:timing>
</p:sld>
</file>

<file path=ppt/theme/theme1.xml><?xml version="1.0" encoding="utf-8"?>
<a:theme xmlns:a="http://schemas.openxmlformats.org/drawingml/2006/main" name="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iseño predeterminado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Aspect</Template>
  <Application>Microsoft Office PowerPoint</Application>
  <PresentationFormat>Affichage à l'écran (4:3)</PresentationFormat>
  <Slides>15</Slides>
  <Notes>0</Notes>
  <HiddenSlides>0</HiddenSlide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6" baseType="lpstr">
      <vt:lpstr>Diseño predeterminado</vt:lpstr>
      <vt:lpstr>Présentation PowerPoint</vt:lpstr>
      <vt:lpstr>Contexte</vt:lpstr>
      <vt:lpstr>Objectifs du projet</vt:lpstr>
      <vt:lpstr>Description du dataset</vt:lpstr>
      <vt:lpstr>Prétraitement des données</vt:lpstr>
      <vt:lpstr>Extraction de features</vt:lpstr>
      <vt:lpstr>Visualisation des  Clusters</vt:lpstr>
      <vt:lpstr>Modèle évolué</vt:lpstr>
      <vt:lpstr>Optimisation du Modèle CNN</vt:lpstr>
      <vt:lpstr>Comparatif</vt:lpstr>
      <vt:lpstr>Analyse des méthodes</vt:lpstr>
      <vt:lpstr>Coûts</vt:lpstr>
      <vt:lpstr>Objectif atteint</vt:lpstr>
      <vt:lpstr>Possibilité</vt:lpstr>
      <vt:lpstr>Conclusion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Mariajose</dc:creator>
  <cp:revision>32</cp:revision>
  <dcterms:created xsi:type="dcterms:W3CDTF">2010-05-23T14:28:12Z</dcterms:created>
  <dcterms:modified xsi:type="dcterms:W3CDTF">2026-06-24T06:54:30Z</dcterms:modified>
</cp:coreProperties>
</file>